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data_chart1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data_chart2.xlsx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data_chart3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2026 Revenue</c:v>
                </c:pt>
              </c:strCache>
            </c:strRef>
          </c:tx>
          <c:spPr>
            <a:solidFill>
              <a:schemeClr val="accent1">
                <a:alpha val="87000"/>
              </a:schemeClr>
            </a:solidFill>
          </c:spPr>
          <c:cat>
            <c:strRef>
              <c:f>Sheet1!$A$2:$A$6</c:f>
              <c:strCache>
                <c:ptCount val="5"/>
                <c:pt idx="0">
                  <c:v>Technology &amp; Digital</c:v>
                </c:pt>
                <c:pt idx="1">
                  <c:v>Strategy &amp; Growth</c:v>
                </c:pt>
                <c:pt idx="2">
                  <c:v>Operations Excellence</c:v>
                </c:pt>
                <c:pt idx="3">
                  <c:v>Finance &amp; Risk</c:v>
                </c:pt>
                <c:pt idx="4">
                  <c:v>HR &amp; People</c:v>
                </c:pt>
              </c:strCache>
            </c:strRef>
          </c:cat>
          <c:val>
            <c:numRef>
              <c:f>Sheet1!$B$2:$B$6</c:f>
              <c:numCache>
                <c:ptCount val="5"/>
                <c:formatCode>General</c:formatCode>
                <c:pt idx="0">
                  <c:v>2.934</c:v>
                </c:pt>
                <c:pt idx="1">
                  <c:v>2.2695</c:v>
                </c:pt>
                <c:pt idx="2">
                  <c:v>2.0647</c:v>
                </c:pt>
                <c:pt idx="3">
                  <c:v>1.863</c:v>
                </c:pt>
                <c:pt idx="4">
                  <c:v>1.2175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 Rate</c:v>
                </c:pt>
              </c:strCache>
            </c:strRef>
          </c:tx>
          <c:spPr>
            <a:solidFill>
              <a:schemeClr val="accent1">
                <a:alpha val="87000"/>
              </a:schemeClr>
            </a:solidFill>
          </c:spPr>
          <c:cat>
            <c:strRef>
              <c:f>Sheet1!$A$2:$A$6</c:f>
              <c:strCache>
                <c:ptCount val="5"/>
                <c:pt idx="0">
                  <c:v>Operations Excellence</c:v>
                </c:pt>
                <c:pt idx="1">
                  <c:v>Strategy &amp; Growth</c:v>
                </c:pt>
                <c:pt idx="2">
                  <c:v>HR &amp; People</c:v>
                </c:pt>
                <c:pt idx="3">
                  <c:v>Finance &amp; Risk</c:v>
                </c:pt>
                <c:pt idx="4">
                  <c:v>Technology &amp; Digital</c:v>
                </c:pt>
              </c:strCache>
            </c:strRef>
          </c:cat>
          <c:val>
            <c:numRef>
              <c:f>Sheet1!$B$2:$B$6</c:f>
              <c:numCache>
                <c:ptCount val="5"/>
                <c:formatCode>General</c:formatCode>
                <c:pt idx="0">
                  <c:v>50</c:v>
                </c:pt>
                <c:pt idx="1">
                  <c:v>50</c:v>
                </c:pt>
                <c:pt idx="2">
                  <c:v>36</c:v>
                </c:pt>
                <c:pt idx="3">
                  <c:v>35</c:v>
                </c:pt>
                <c:pt idx="4">
                  <c:v>25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Promoter (9-10)</c:v>
                </c:pt>
                <c:pt idx="1">
                  <c:v>Passive (7-8)</c:v>
                </c:pt>
                <c:pt idx="2">
                  <c:v>Detractor (0-6)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16</c:v>
                </c:pt>
              </c:numCache>
            </c:numRef>
          </c:val>
        </c:ser>
        <c:firstSliceAng val="0"/>
      </c:pieChart>
    </c:plotArea>
    <c:legend>
      <c:legendPos val="b"/>
      <c:overlay val="0"/>
    </c:legend>
    <c:plotVisOnly val="1"/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revenue $10.3M on target; growth decelerated to 5.7% YoY (from 13–16% in 2024–25). Forward pipeline $48M weighted, late-stage heavy (70% of deals / 87% of weighted value). Two flags for leadership: 40% win rate and a sharp NPS drop (–32 in Q1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sections. The heaviest content is in Q1 Results (revenue + pipeline) and Risk Signals (the two leadership flags: win rate and NPS). Reserve ~8 minutes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detail: Jan $3.19M (33.9% margin), Feb $3.37M (34.6%), Mar $3.79M (36.9%). HR &amp; People softest at +3.9% YoY; Finance &amp; Risk strongest at +6.9%.</a:t>
            </a:r>
          </a:p>
          <a:p>
            <a:r>
              <a:t/>
            </a:r>
          </a:p>
          <a:p>
            <a:r>
              <a:t>── Supporting claims ──</a:t>
            </a:r>
          </a:p>
          <a:p>
            <a:r>
              <a:t>• "Margin improving 34.3% to 36.9% through the quarter; $3.6M operating profit"</a:t>
            </a:r>
          </a:p>
          <a:p>
            <a:r>
              <a:t>  — ./Data/financials/monthly_financials.csv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practice_revenue (bar_chart): ./Data/financials/quarterly_revenue.csv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practice breakdown: Ops Excellence $12.7M, Strategy $10.7M, T&amp;D $9.2M, HR &amp; People $8.5M, Finance &amp; Risk $6.9M. By industry: Retail &amp; Consumer $11.8M, Healthcare $8.3M, Public Sector $7.6M, Energy $7.6M, Manufacturing $6.7M, Financial Services $6.0M. Close dates May–Dec 2026.</a:t>
            </a:r>
          </a:p>
          <a:p>
            <a:r>
              <a:t/>
            </a:r>
          </a:p>
          <a:p>
            <a:r>
              <a:t>── Supporting claims ──</a:t>
            </a:r>
          </a:p>
          <a:p>
            <a:r>
              <a:t>• "Ops Excellence $12.7M, Strategy $10.7M, T&amp;D $9.2M weighted by practice"</a:t>
            </a:r>
          </a:p>
          <a:p>
            <a:r>
              <a:t>  — ./Data/pipeline/sales_pipeline.csv</a:t>
            </a:r>
          </a:p>
          <a:p>
            <a:r>
              <a:t>• "Financial Services $6.0M weighted — underweight vs. confirmed regulatory demand"</a:t>
            </a:r>
          </a:p>
          <a:p>
            <a:r>
              <a:t>  — ./Data/pipeline/sales_pipeline.csv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pipeline_by_stage (table): ./Data/pipeline/sales_pipeline.csv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Wins/tracked by practice: Ops Excellence 7/14, Strategy 8/16, HR 5/14, Finance 7/20, T&amp;D 2/8. Pattern in losses: McKinsey entry above the sponsor (board/CEO relationship) before formal scoping — 3rd such loss in 18 months. Deloitte won on sector accelerators despite weaker proposal. Recent MCG wins: senior-in-the-work staffing, faster mobilization, technology-agnostic positioning.</a:t>
            </a:r>
          </a:p>
          <a:p>
            <a:r>
              <a:t/>
            </a:r>
          </a:p>
          <a:p>
            <a:r>
              <a:t>── Supporting claims ──</a:t>
            </a:r>
          </a:p>
          <a:p>
            <a:r>
              <a:t>• "Brand preference (12) and relationship gap (10) account for 51% of losses; top competitors McKinsey (8), PwC (6), BCG (6)"</a:t>
            </a:r>
          </a:p>
          <a:p>
            <a:r>
              <a:t>  — ./Data/pipeline/win_loss_analysis.csv</a:t>
            </a:r>
          </a:p>
          <a:p>
            <a:r>
              <a:t>• "McKinsey took a $1.2M deal via board/CEO relationship before formal scoping — 3rd above-the-sponsor loss in 18 months; Deloitte won $900K energy RFP on sector accelerators; MCG ~$295/hr vs. boutiques $220–280, MBB $580–750"</a:t>
            </a:r>
          </a:p>
          <a:p>
            <a:r>
              <a:t>  — ./Data/pipeline/competitive_intel.txt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win_rate_by_practice (bar_chart): ./Data/pipeline/win_loss_analysis.csv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 cause is likely accumulated friction rather than one incident [needs-verification — driver not isolatable from current data]. Churn figures (5/11/8 FY23/24/25) appear in the narrative without a cited source — treat as author-stated. Small sample (28 respondents) but directional signal is real. Follow up all 16 detractors within 30 days before drawing conclusions. Note: industry_benchmarks.csv contains a 2025 NPS figure of +52, but the quarterly nps_survey_results.csv shows all 2025 quarters negative — these appear to use different methodologies; the comparison was removed from the slide face.</a:t>
            </a:r>
          </a:p>
          <a:p>
            <a:r>
              <a:t/>
            </a:r>
          </a:p>
          <a:p>
            <a:r>
              <a:t>── Supporting claims ──</a:t>
            </a:r>
          </a:p>
          <a:p>
            <a:r>
              <a:t>• "Recurring themes: team chemistry, turnaround time, value for money, communication"</a:t>
            </a:r>
          </a:p>
          <a:p>
            <a:r>
              <a:t>  — ./Data/clients/nps_survey_results.csv</a:t>
            </a:r>
          </a:p>
          <a:p>
            <a:r>
              <a:t>• "Repeat-client revenue 68% vs. 60% industry average"</a:t>
            </a:r>
          </a:p>
          <a:p>
            <a:r>
              <a:t>  — ./Data/market/industry_benchmarks.csv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nps_distribution (pie_chart): ./Data/clients/nps_survey_results.csv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growth YoY of 12.8% (trailing) is strong vs. industry avg (8.5%), but Q1's 5.7% shows deceleration. Utilization at 76.2% is near top quartile (80.1%) — AI advisory build should be net-new hires, not reallocation.</a:t>
            </a:r>
          </a:p>
          <a:p>
            <a:r>
              <a:t/>
            </a:r>
          </a:p>
          <a:p>
            <a:r>
              <a:t>── Supporting claims ──</a:t>
            </a:r>
          </a:p>
          <a:p>
            <a:r>
              <a:t>• "AI advisory ~$3–4M addressable if structured offering and 4–5 consultants fielded; headcount must precede conversion"</a:t>
            </a:r>
          </a:p>
          <a:p>
            <a:r>
              <a:t>  — ./Data/market/market_trends_fy26.txt</a:t>
            </a:r>
          </a:p>
          <a:p>
            <a:r>
              <a:t>• "H2 2026 tailwinds: Basel IV, healthcare workforce/revenue cycle, manufacturing ESG reporting, energy grid modernization — much of it non-discretionary"</a:t>
            </a:r>
          </a:p>
          <a:p>
            <a:r>
              <a:t>  — ./Data/market/market_trends_fy26.txt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market_benchmarks (table): ./Data/market/industry_benchmarks.csv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T&amp;D's $9.2M weighted at 25% win rate is the largest quantified upside lever. Raising to 40% adds ~$1.5M to H2. Verbal Commit stage ($27.4M) is far enough along that delivery matters more than selling. Qualification stage is thin — needs pipeline refresh by Q3 to maintain Q4 coverage.</a:t>
            </a:r>
          </a:p>
          <a:p>
            <a:r>
              <a:t/>
            </a:r>
          </a:p>
          <a:p>
            <a:r>
              <a:t>── Data sources ──</a:t>
            </a:r>
          </a:p>
          <a:p>
            <a:r>
              <a:t>• h2_conversion_bridge (table)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Priorities are interdependent: NPS triage protects the 68% repeat-client revenue base; T&amp;D win-rate program addresses the largest single upside lever; C-suite relationship investment is a 6–18 month play to close structural loss gap; AI advisory hire decision needs to be made in Q2 to hit H2 demand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close: Q1 is a stable base, not a crisis. The pipeline is healthy in volume and late-stage concentration. Two urgent near-term actions: NPS detractor follow-up (30-day window) and T&amp;D win-rate diagnostic (ongoing H2).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Q&amp;A:</a:t>
            </a:r>
          </a:p>
          <a:p>
            <a:r>
              <a:t/>
            </a:r>
          </a:p>
          <a:p>
            <a:r>
              <a:t>- Why did growth slow if the pipeline looks healthy? Q1 revenue came from 2025 wins; the pipeline closes in H2. Converting at current rates should re-accelerate Q3–Q4.</a:t>
            </a:r>
          </a:p>
          <a:p>
            <a:r>
              <a:t>- Is the NPS drop real or a data artifact? Small sample (28), but directional signal is real. Follow up all detractors within 30 days before concluding.</a:t>
            </a:r>
          </a:p>
          <a:p>
            <a:r>
              <a:t>- Should we be more selective given 40% win rate? Yes — especially sub-$300K single-practice RFPs. Best win rates (50%) are multi-practice Ops/Strategy deals.</a:t>
            </a:r>
          </a:p>
          <a:p>
            <a:r>
              <a:t>- Can we build AI advisory without straining the team? Net-new hires, not reallocation — utilization already 76.2%, near top quartile.</a:t>
            </a:r>
          </a:p>
          <a:p>
            <a:r>
              <a:t>- How exposed is the Financial Services gap? $6.0M weighted vs. firm-wide 4.6× coverage is light, against confirmed regulatory demand — a Q2 outbound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3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Q1 2026 Sales Pipeline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CCCCC"/>
                </a:solidFill>
                <a:latin typeface="Arial"/>
              </a:rPr>
              <a:t>Meridian Consulting Group — Business Development &amp; Strategy</a:t>
            </a:r>
          </a:p>
          <a:p>
            <a:r>
              <a:rPr sz="2000" b="0" i="0">
                <a:solidFill>
                  <a:srgbClr val="CCCCCC"/>
                </a:solidFill>
                <a:latin typeface="Arial"/>
              </a:rPr>
              <a:t>2026-06-02</a:t>
            </a:r>
          </a:p>
          <a:p>
            <a:r>
              <a:rPr sz="2000" b="0" i="0">
                <a:solidFill>
                  <a:srgbClr val="CCCCCC"/>
                </a:solidFill>
                <a:latin typeface="Arial"/>
              </a:rPr>
              <a:t>Sales Leadership Team · 30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Q1 Results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Risk Signals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Outlook &amp; Actions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Conclusion &amp; Q&amp;A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Q1 Results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Q1 Revenue: $10.3M On Target, Growth Decelerating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Growth across all five practices; overall +5.7% YoY — below the 13–16% seen in 2024–25.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Pipeline: $48M Weighted — Strong Coverage, Late-Stage Heavy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80 open opportunities; $80.9M expected / $48.0M weighted. 4.6× quarterly run rate. Late-stage heavy: Negotiation or Verbal Commit account for 70% of deals (56 of 80) and 87% of weighted value.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Deals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Expected Value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Weighted Value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Verbal Commit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$32,294,000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$27,449,900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Negotiation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$21,858,000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$14,207,700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Proposal Submitted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$11,433,000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$4,001,548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Qualification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$15,342,000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$2,301,300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$80,927,000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$47,960,448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By practice: Ops Excellence ($12.7M) and Strategy ($10.7M) lead. T&amp;D ($9.2M): watch item at 25% win rate. Financial Services ($6.0M weighted): underweight vs. confirmed regulatory demand.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Risk Signals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Win Rate 40%; T&amp;D at 25% Is the Largest Upside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Overall 29/72 (40.3%). Ops Excellence and Strategy at 50%; T&amp;D lags at 25%.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NPS: –32 in Q1 2026 — Urgent Client-Health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</a:pPr>
            <a:r>
              <a:rPr sz="2000" b="1" i="0">
                <a:solidFill>
                  <a:srgbClr val="0066CC"/>
                </a:solidFill>
                <a:latin typeface="Arial"/>
              </a:rPr>
              <a:t>Q1 2026 survey, 28 respondents. 57% detractors.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Recurring themes: team chemistry, turnaround time, value for money.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Repeat-client revenue 68% vs. 60% industry avg — a strength.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Churn: 5 / 11 / 8 clients (FY23/24/25).</a:t>
            </a:r>
          </a:p>
        </p:txBody>
      </p:sp>
      <p:graphicFrame>
        <p:nvGraphicFramePr>
          <p:cNvPr id="5" name="Chart 9"/>
          <p:cNvGraphicFramePr>
            <a:graphicFrameLocks noGrp="1"/>
          </p:cNvGraphicFramePr>
          <p:nvPr/>
        </p:nvGraphicFramePr>
        <p:xfrm>
          <a:off x="5577840" y="1828800"/>
          <a:ext cx="5790895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Outlook &amp; Actions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Market Position: Above Average — Headroom on Key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Above industry average on all tracked metrics; below top quartile on utilization, margin, win rate, repeat revenue.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MCG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Industry Avg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Top Quartile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Utilization rate (%)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76.2%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73.5%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80.1%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Revenue per consultant ($K)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$342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$318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$390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Project margin (%)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31.4%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28.0%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36.0%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Win rate - competitive RFPs (%)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Repeat client revenue (%)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Revenue growth YoY (%)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8.5%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H2 tailwinds: Basel IV (financial services), healthcare workforce, manufacturing ESG, energy grid — largely non-discretionary. AI advisory fastest-growing pipeline request (~$3–4M addressable).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H2 Outlook: Realization Risk, Not Volume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H2 target ~$20–21M; $48M weighted pipeline gives &gt;2× coverage. The build is healthy in structure — execution quality is the variable.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Driver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Current State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Target / Risk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Revenue Impact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T&amp;D Win Rate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40% target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+$1.5M from current pipeline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Verbal Commit ($27.4M)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~85% conversion prob.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Execution risk - not sales risk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Qualification ($2.3M)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Thin early-stage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Replenish by Q3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Recommendations: Four Actions for H2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C-suite relationship investment</a:t>
            </a:r>
            <a:r>
              <a:rPr sz="1800" b="0" i="0">
                <a:solidFill>
                  <a:srgbClr val="1D1D1F"/>
                </a:solidFill>
                <a:latin typeface="Arial"/>
              </a:rPr>
              <a:t> — partner presence at events for top 15 target accounts; counter McKinsey’s board-level entry.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T&amp;D win-rate program</a:t>
            </a:r>
            <a:r>
              <a:rPr sz="1800" b="0" i="0">
                <a:solidFill>
                  <a:srgbClr val="1D1D1F"/>
                </a:solidFill>
                <a:latin typeface="Arial"/>
              </a:rPr>
              <a:t> — structured win/loss debriefs on all H2 T&amp;D deals; diagnose proposal-stage vs. sourcing-stage loss.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NPS triage</a:t>
            </a:r>
            <a:r>
              <a:rPr sz="1800" b="0" i="0">
                <a:solidFill>
                  <a:srgbClr val="1D1D1F"/>
                </a:solidFill>
                <a:latin typeface="Arial"/>
              </a:rPr>
              <a:t> — follow up all 16 detractors within 30 days; identify practice/AM concentration.</a:t>
            </a:r>
          </a:p>
          <a:p>
            <a:pPr marL="247650" indent="-24765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AI advisory build</a:t>
            </a:r>
            <a:r>
              <a:rPr sz="1800" b="0" i="0">
                <a:solidFill>
                  <a:srgbClr val="1D1D1F"/>
                </a:solidFill>
                <a:latin typeface="Arial"/>
              </a:rPr>
              <a:t> — plan 4–5 net-new hires in Q2 to capture H2 demand (~$3–4M).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Q1 revenue $10.3M on target, but 5.7% YoY growth is a clear deceleration; the $48M weighted pipeline gives strong H2 coverage — the risk is conversion, not volume</a:t>
            </a:r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T&amp;D’s 25% win rate is the single largest upside lever (+$1.5M on conversion to 40%)</a:t>
            </a:r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NPS –32 in Q1 2026 is an urgent client-health signal requiring immediate follow-up</a:t>
            </a:r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Losses to McKinsey/Deloitte/PwC are structural — answer with relationships and partnerships, not better proposals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