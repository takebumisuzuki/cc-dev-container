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data_chart1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data_chart2.xlsx"/></Relationships>
</file>

<file path=ppt/charts/_rels/chart8.xml.rels><?xml version="1.0" encoding="UTF-8"?><Relationships xmlns="http://schemas.openxmlformats.org/package/2006/relationships"><Relationship Id="rId1" Type="http://schemas.openxmlformats.org/officeDocument/2006/relationships/package" Target="../embeddings/data_chart3.xlsx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data_chart4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ptCount val="3"/>
                <c:formatCode>General</c:formatCode>
                <c:pt idx="0">
                  <c:v>33.4</c:v>
                </c:pt>
                <c:pt idx="1">
                  <c:v>38.7</c:v>
                </c:pt>
                <c:pt idx="2">
                  <c:v>43.7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Sheet1!$C$2:$C$4</c:f>
              <c:numCache>
                <c:ptCount val="3"/>
                <c:formatCode>General</c:formatCode>
                <c:pt idx="0">
                  <c:v>11.9</c:v>
                </c:pt>
                <c:pt idx="1">
                  <c:v>13.8</c:v>
                </c:pt>
                <c:pt idx="2">
                  <c:v>15.7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Sheet1!$B$2:$B$5</c:f>
              <c:numCache>
                <c:ptCount val="4"/>
                <c:formatCode>General</c:formatCode>
                <c:pt idx="0">
                  <c:v>9.8</c:v>
                </c:pt>
                <c:pt idx="1">
                  <c:v>11.5</c:v>
                </c:pt>
                <c:pt idx="2">
                  <c:v>10.7</c:v>
                </c:pt>
                <c:pt idx="3">
                  <c:v>11.7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Sheet1!$C$2:$C$5</c:f>
              <c:numCache>
                <c:ptCount val="4"/>
                <c:formatCode>General</c:formatCode>
                <c:pt idx="0">
                  <c:v>3.6</c:v>
                </c:pt>
                <c:pt idx="1">
                  <c:v>4.1</c:v>
                </c:pt>
                <c:pt idx="2">
                  <c:v>3.8</c:v>
                </c:pt>
                <c:pt idx="3">
                  <c:v>4.1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Technology &amp; Digital</c:v>
                </c:pt>
                <c:pt idx="1">
                  <c:v>Strategy &amp; Growth</c:v>
                </c:pt>
                <c:pt idx="2">
                  <c:v>Operations Excellence</c:v>
                </c:pt>
                <c:pt idx="3">
                  <c:v>Finance &amp; Risk</c:v>
                </c:pt>
                <c:pt idx="4">
                  <c:v>HR &amp; People</c:v>
                </c:pt>
              </c:strCache>
            </c:strRef>
          </c:cat>
          <c:val>
            <c:numRef>
              <c:f>Sheet1!$B$2:$B$6</c:f>
              <c:numCache>
                <c:ptCount val="5"/>
                <c:formatCode>General</c:formatCode>
                <c:pt idx="0">
                  <c:v>10.9</c:v>
                </c:pt>
                <c:pt idx="1">
                  <c:v>8.6</c:v>
                </c:pt>
                <c:pt idx="2">
                  <c:v>7.7</c:v>
                </c:pt>
                <c:pt idx="3">
                  <c:v>6.9</c:v>
                </c:pt>
                <c:pt idx="4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Technology &amp; Digital</c:v>
                </c:pt>
                <c:pt idx="1">
                  <c:v>Strategy &amp; Growth</c:v>
                </c:pt>
                <c:pt idx="2">
                  <c:v>Operations Excellence</c:v>
                </c:pt>
                <c:pt idx="3">
                  <c:v>Finance &amp; Risk</c:v>
                </c:pt>
                <c:pt idx="4">
                  <c:v>HR &amp; People</c:v>
                </c:pt>
              </c:strCache>
            </c:strRef>
          </c:cat>
          <c:val>
            <c:numRef>
              <c:f>Sheet1!$C$2:$C$6</c:f>
              <c:numCache>
                <c:ptCount val="5"/>
                <c:formatCode>General</c:formatCode>
                <c:pt idx="0">
                  <c:v>12.3</c:v>
                </c:pt>
                <c:pt idx="1">
                  <c:v>9.6</c:v>
                </c:pt>
                <c:pt idx="2">
                  <c:v>8.7</c:v>
                </c:pt>
                <c:pt idx="3">
                  <c:v>7.8</c:v>
                </c:pt>
                <c:pt idx="4">
                  <c:v>5.2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Rate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ptCount val="3"/>
                <c:formatCode>General</c:formatCode>
                <c:pt idx="0">
                  <c:v>93.3</c:v>
                </c:pt>
                <c:pt idx="1">
                  <c:v>85.3</c:v>
                </c:pt>
                <c:pt idx="2">
                  <c:v>89.3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62A2E"/>
                </a:solidFill>
                <a:latin typeface="Arial"/>
              </a:rPr>
              <a:t>Meridian Consulting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6B7280"/>
                </a:solidFill>
                <a:latin typeface="Arial"/>
              </a:rPr>
              <a:t>FY2025 Annual Performance Review</a:t>
            </a:r>
          </a:p>
          <a:p>
            <a:r>
              <a:rPr sz="2000" b="0" i="0">
                <a:solidFill>
                  <a:srgbClr val="6B7280"/>
                </a:solidFill>
                <a:latin typeface="Arial"/>
              </a:rPr>
              <a:t>Executive Leadership Team</a:t>
            </a:r>
          </a:p>
          <a:p>
            <a:r>
              <a:rPr sz="2000" b="0" i="0">
                <a:solidFill>
                  <a:srgbClr val="6B7280"/>
                </a:solidFill>
                <a:latin typeface="Arial"/>
              </a:rPr>
              <a:t>May 29, 2026 · 30 minutes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262A2E"/>
                </a:solidFill>
                <a:latin typeface="Arial"/>
              </a:rPr>
              <a:t>Executive Summary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262A2E"/>
                </a:solidFill>
                <a:latin typeface="Arial"/>
              </a:rPr>
              <a:t>Financial Performance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262A2E"/>
                </a:solidFill>
                <a:latin typeface="Arial"/>
              </a:rPr>
              <a:t>Project Delivery Quality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262A2E"/>
                </a:solidFill>
                <a:latin typeface="Arial"/>
              </a:rPr>
              <a:t>Client Health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262A2E"/>
                </a:solidFill>
                <a:latin typeface="Arial"/>
              </a:rPr>
              <a:t>Active Pipeline &amp; Practice Capacity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262A2E"/>
                </a:solidFill>
                <a:latin typeface="Arial"/>
              </a:rPr>
              <a:t>Strategic Priorities for FY2026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Revenue: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$43.7M (+13.0% YoY); margin held at 35.8% — third straight year of double-digit growth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Delivery: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On-time completion fell to 54.8% (from 68.8%) — primary operational risk for FY2026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Outlook: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$48.5M backlog across 58 active projects; priority is converting growth into delivery consistency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262A2E"/>
                </a:solidFill>
                <a:latin typeface="Arial"/>
              </a:rPr>
              <a:t>Financial Performance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Revenue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$43.7M in FY2025 (+13.0% YoY) — third consecutive year of double-digit growth. Three-year CAGR ~14.4%. Operating margin held in a tight 35.6—35.8% band throughout.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FY2025 Quarterly Progression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Q2 and Q4 both exceeded $11.5M; Q1 and Q3 softer. Q1 margin peaked at 37.3% (favorable practice mix); Q2—Q4 normalized to 35.3—35.6%.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Revenue by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All five practices grew within a 12.0—13.5% band — broad-based momentum, not a single-practice story. Technology &amp; Digital leads at $12.3M (28% of firm revenue).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262A2E"/>
                </a:solidFill>
                <a:latin typeface="Arial"/>
              </a:rPr>
              <a:t>Project Delivery Quality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On-Time Completion and Client Satisfaction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31 projects completed ($20.5M). On-time rate: 54.8% — down sharply from 68.8% in FY2024. Avg. satisfaction: 4.15/5.0 (up slightly) — quality is strong when delivery lands on 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155"/>
                <a:gridCol w="2109155"/>
                <a:gridCol w="2109155"/>
                <a:gridCol w="2109155"/>
                <a:gridCol w="2109155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On-Time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Avg.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Avg. Margin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Operations Excellence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3.92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29.8%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Strategy &amp;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27.1%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Technology &amp; 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31.6%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HR &amp; People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30.3%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Finance &amp;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32.6%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Arial"/>
              </a:rPr>
              <a:t>Source: ./Data/projects/completed_projects.csv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Notable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Apex Financial Corp (P2241):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$1.1M, delivered 2 weeks early. CFO reference call; follow-on compliance opportunity in negotiation.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Cardinal Health Systems (P2267):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Satisfaction 4.8/5.0. Methodology packaged as MCG framework; two direct referrals.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Quantum Computing Inc (P2289):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Satisfaction 4.6/5.0. CTO: “The clearest technical roadmap we’ve ever received from an external adviser.”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Delivery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Triumph Automotive (P2278):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6 weeks over; scope expanded mid-engagement with no SOW gate. Q3 cash flow gap; follow-on renewal risk flagged.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1" i="0">
                <a:solidFill>
                  <a:srgbClr val="262A2E"/>
                </a:solidFill>
                <a:latin typeface="Arial"/>
              </a:rPr>
              <a:t>Empire Retail (P2303):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Partial delivery — $320K of $500K — after three sponsor changes. No escalation protocol; firm not pursuing further work.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800" b="0" i="0">
                <a:solidFill>
                  <a:srgbClr val="262A2E"/>
                </a:solidFill>
                <a:latin typeface="Arial"/>
              </a:rPr>
              <a:t>Common root cause: SOW and escalation design did not keep pace with mid-engagement change.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262A2E"/>
                </a:solidFill>
                <a:latin typeface="Arial"/>
              </a:rPr>
              <a:t>Client Health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Client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Recovered to 89.3% in FY2025, up from the FY2024 trough (85.3%). Eight churns; 4 were pricing- or competition-driven — active re-evaluation, not passive attrition. Not yet back to FY2023’s 93.3%.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Client NPS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Avg. NPS 54.5 — essentially flat vs. FY2024 (54.3). Promoters slipped 29% → 26%; detractor share held at 45% (50 clients at risk).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FY2024 (n=112)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FY2025 (n=112)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Promoters (≥70)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32 (29%)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29 (26%)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Passives (50–69)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30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33 (29%)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Detractors (&lt;50)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50 (45%)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50 (45%)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Avg. NPS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Arial"/>
              </a:rPr>
              <a:t>Strengths: analytical rigor, responsiveness. Improvement areas: consultant continuity, translating recommendations into action plans.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262A2E"/>
                </a:solidFill>
                <a:latin typeface="Arial"/>
              </a:rPr>
              <a:t>Active Pipeline &amp; Practice Capacity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Active Pipeline and Practice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6B7280"/>
                </a:solidFill>
                <a:latin typeface="Arial"/>
              </a:rPr>
              <a:t>$48.5M contracted across 58 engagements: 42 on track, 7 ahead, 6 at risk, 3 on hold.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Active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Contracted Value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HR &amp; People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$15.4M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Strategy &amp;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$12.2M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Finance &amp;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$8.5M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Technology &amp; 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$6.4M</a:t>
                      </a:r>
                    </a:p>
                  </a:txBody>
                  <a:tcPr anchor="ctr"/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Operations Excellence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62A2E"/>
                          </a:solidFill>
                          <a:latin typeface="Arial"/>
                        </a:rPr>
                        <a:t>$6.1M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Arial"/>
              </a:rPr>
              <a:t>Capacity watch — T&amp;D: 3 senior consultants at ≥95% utilization; $6.2M pipeline at risk without two Senior Consultant hires.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Strategic Priorities for FY2026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262A2E"/>
                </a:solidFill>
                <a:latin typeface="Arial"/>
              </a:rPr>
              <a:t>Restore delivery consistency.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On-time rate fell to 54.8%. Implement firm-wide SOW standard with explicit scope gates and sponsor-change escalation clauses.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262A2E"/>
                </a:solidFill>
                <a:latin typeface="Arial"/>
              </a:rPr>
              <a:t>Convert NPS detractors.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45% of clients in the detractor band. Targeted account recovery + improvements in consultant continuity and action plan delivery.</a:t>
            </a:r>
          </a:p>
          <a:p>
            <a:pPr marL="114300" indent="-114300"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262A2E"/>
                </a:solidFill>
                <a:latin typeface="Arial"/>
              </a:rPr>
              <a:t>Resolve T&amp;D capacity. </a:t>
            </a:r>
            <a:r>
              <a:rPr sz="1800" b="0" i="0">
                <a:solidFill>
                  <a:srgbClr val="262A2E"/>
                </a:solidFill>
                <a:latin typeface="Arial"/>
              </a:rPr>
              <a:t>Highest pipeline ($6.2M), largest revenue share (28%), over-capacity now. Approve two Senior Consultant hires.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262A2E"/>
                </a:solidFill>
                <a:latin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62A2E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2377440" cy="3810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A2E"/>
                </a:solidFill>
                <a:latin typeface="Arial"/>
              </a:rPr>
              <a:t>FY2025 revenue reached $43.7M (+13.0% YoY) — the third consecutive year of double-digit growth; operating margin held at 35.8%.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A2E"/>
                </a:solidFill>
                <a:latin typeface="Arial"/>
              </a:rPr>
              <a:t>All five practices grew 12—13.5% YoY — growth is broad-based, not dependent on any single practice.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A2E"/>
                </a:solidFill>
                <a:latin typeface="Arial"/>
              </a:rPr>
              <a:t>On-time project completion declined to 54.8% (from 68.8% in FY2024); this is the primary operational risk heading into FY2026.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A2E"/>
                </a:solidFill>
                <a:latin typeface="Arial"/>
              </a:rPr>
              <a:t>Client retention recovered to 89.3% (from FY2024’s trough of 85.3%); NPS is flat with 45% of clients still in the detractor band.</a:t>
            </a:r>
          </a:p>
          <a:p>
            <a:pPr marL="114300" indent="-114300">
              <a:spcAft>
                <a:spcPts val="1000"/>
              </a:spcAft>
              <a:buChar char="•"/>
            </a:pPr>
            <a:r>
              <a:rPr sz="1800" b="0" i="0">
                <a:solidFill>
                  <a:srgbClr val="262A2E"/>
                </a:solidFill>
                <a:latin typeface="Arial"/>
              </a:rPr>
              <a:t>Active backlog of $48.5M across 58 projects provides strong FY2026 revenue visibility; Technology &amp; Digital capacity must be resolved to realize the pipeline.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262A2E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