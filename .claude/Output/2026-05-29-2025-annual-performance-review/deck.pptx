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data_chart1.xlsx"/></Relationships>
</file>

<file path=ppt/charts/_rels/chart8.xml.rels><?xml version="1.0" encoding="UTF-8"?><Relationships xmlns="http://schemas.openxmlformats.org/package/2006/relationships"><Relationship Id="rId1" Type="http://schemas.openxmlformats.org/officeDocument/2006/relationships/package" Target="../embeddings/data_chart2.xlsx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data_chart3.xlsx"/></Relationships>
</file>

<file path=ppt/charts/_rels/chart10.xml.rels><?xml version="1.0" encoding="UTF-8"?><Relationships xmlns="http://schemas.openxmlformats.org/package/2006/relationships"><Relationship Id="rId1" Type="http://schemas.openxmlformats.org/officeDocument/2006/relationships/package" Target="../embeddings/data_chart4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>
                <a:alpha val="87000"/>
              </a:schemeClr>
            </a:solidFill>
          </c:spPr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ptCount val="3"/>
                <c:formatCode>General</c:formatCode>
                <c:pt idx="0">
                  <c:v>33.4</c:v>
                </c:pt>
                <c:pt idx="1">
                  <c:v>38.7</c:v>
                </c:pt>
                <c:pt idx="2">
                  <c:v>43.7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chemeClr val="accent2">
                <a:alpha val="87000"/>
              </a:schemeClr>
            </a:solidFill>
          </c:spPr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Sheet1!$C$2:$C$4</c:f>
              <c:numCache>
                <c:ptCount val="3"/>
                <c:formatCode>General</c:formatCode>
                <c:pt idx="0">
                  <c:v>11.9</c:v>
                </c:pt>
                <c:pt idx="1">
                  <c:v>13.8</c:v>
                </c:pt>
                <c:pt idx="2">
                  <c:v>15.7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>
                <a:alpha val="87000"/>
              </a:schemeClr>
            </a:solidFill>
          </c:spP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Sheet1!$B$2:$B$5</c:f>
              <c:numCache>
                <c:ptCount val="4"/>
                <c:formatCode>General</c:formatCode>
                <c:pt idx="0">
                  <c:v>9.8</c:v>
                </c:pt>
                <c:pt idx="1">
                  <c:v>11.5</c:v>
                </c:pt>
                <c:pt idx="2">
                  <c:v>10.7</c:v>
                </c:pt>
                <c:pt idx="3">
                  <c:v>11.7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chemeClr val="accent2">
                <a:alpha val="87000"/>
              </a:schemeClr>
            </a:solidFill>
          </c:spPr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</c:strCache>
            </c:strRef>
          </c:cat>
          <c:val>
            <c:numRef>
              <c:f>Sheet1!$C$2:$C$5</c:f>
              <c:numCache>
                <c:ptCount val="4"/>
                <c:formatCode>General</c:formatCode>
                <c:pt idx="0">
                  <c:v>3.6</c:v>
                </c:pt>
                <c:pt idx="1">
                  <c:v>4.1</c:v>
                </c:pt>
                <c:pt idx="2">
                  <c:v>3.8</c:v>
                </c:pt>
                <c:pt idx="3">
                  <c:v>4.1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chemeClr val="accent1">
                <a:alpha val="87000"/>
              </a:schemeClr>
            </a:solidFill>
          </c:spPr>
          <c:cat>
            <c:strRef>
              <c:f>Sheet1!$A$2:$A$6</c:f>
              <c:strCache>
                <c:ptCount val="5"/>
                <c:pt idx="0">
                  <c:v>Technology &amp; Digital</c:v>
                </c:pt>
                <c:pt idx="1">
                  <c:v>Strategy &amp; Growth</c:v>
                </c:pt>
                <c:pt idx="2">
                  <c:v>Operations Excellence</c:v>
                </c:pt>
                <c:pt idx="3">
                  <c:v>Finance &amp; Risk</c:v>
                </c:pt>
                <c:pt idx="4">
                  <c:v>HR &amp; People</c:v>
                </c:pt>
              </c:strCache>
            </c:strRef>
          </c:cat>
          <c:val>
            <c:numRef>
              <c:f>Sheet1!$B$2:$B$6</c:f>
              <c:numCache>
                <c:ptCount val="5"/>
                <c:formatCode>General</c:formatCode>
                <c:pt idx="0">
                  <c:v>10.9</c:v>
                </c:pt>
                <c:pt idx="1">
                  <c:v>8.6</c:v>
                </c:pt>
                <c:pt idx="2">
                  <c:v>7.7</c:v>
                </c:pt>
                <c:pt idx="3">
                  <c:v>6.9</c:v>
                </c:pt>
                <c:pt idx="4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chemeClr val="accent2">
                <a:alpha val="87000"/>
              </a:schemeClr>
            </a:solidFill>
          </c:spPr>
          <c:cat>
            <c:strRef>
              <c:f>Sheet1!$A$2:$A$6</c:f>
              <c:strCache>
                <c:ptCount val="5"/>
                <c:pt idx="0">
                  <c:v>Technology &amp; Digital</c:v>
                </c:pt>
                <c:pt idx="1">
                  <c:v>Strategy &amp; Growth</c:v>
                </c:pt>
                <c:pt idx="2">
                  <c:v>Operations Excellence</c:v>
                </c:pt>
                <c:pt idx="3">
                  <c:v>Finance &amp; Risk</c:v>
                </c:pt>
                <c:pt idx="4">
                  <c:v>HR &amp; People</c:v>
                </c:pt>
              </c:strCache>
            </c:strRef>
          </c:cat>
          <c:val>
            <c:numRef>
              <c:f>Sheet1!$C$2:$C$6</c:f>
              <c:numCache>
                <c:ptCount val="5"/>
                <c:formatCode>General</c:formatCode>
                <c:pt idx="0">
                  <c:v>12.3</c:v>
                </c:pt>
                <c:pt idx="1">
                  <c:v>9.6</c:v>
                </c:pt>
                <c:pt idx="2">
                  <c:v>8.7</c:v>
                </c:pt>
                <c:pt idx="3">
                  <c:v>7.8</c:v>
                </c:pt>
                <c:pt idx="4">
                  <c:v>5.2</c:v>
                </c:pt>
              </c:numCache>
            </c:numRef>
          </c:val>
        </c:ser>
        <c:gapWidth val="160"/>
        <c:overlap val="-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Rate</c:v>
                </c:pt>
              </c:strCache>
            </c:strRef>
          </c:tx>
          <c:spPr>
            <a:ln>
              <a:solidFill>
                <a:schemeClr val="accent1">
                  <a:alpha val="87000"/>
                </a:schemeClr>
              </a:solidFill>
            </a:ln>
          </c:spPr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ptCount val="3"/>
                <c:formatCode>General</c:formatCode>
                <c:pt idx="0">
                  <c:v>93.3</c:v>
                </c:pt>
                <c:pt idx="1">
                  <c:v>85.3</c:v>
                </c:pt>
                <c:pt idx="2">
                  <c:v>89.3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  <a:prstDash val="sysDot"/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 for the session: strong financial year, but delivery quality is the story that needs the leadership team's attention. The data is clear — this is not a minor fluctuation.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by year: FY2023 35.7%, FY2024 35.6%, FY2025 35.8%. The tight band signals efficient cost scaling — no evidence of unsustainable discounting or cost overruns at the firm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Quarterly margin detail: Q1 37.3%, Q2 35.3%, Q3 35.6%, Q4 35.4%. Q1 margin reflects a favorable mix in higher-margin practices; nothing structural — margins normalized in subsequent quarters.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YoY growth rates: T&amp;D +13.1%, S&amp;G +12.0%, OpEx +13.5%, F&amp;R +13.3%, HR +13.0%. The tight band rules out practice-specific factors as the primary driver — this is a firm-wide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tension: Operations Excellence was 100% on-time but second-lowest in satisfaction (3.92). Strategy &amp; Growth and HR &amp; People posted the highest satisfaction scores despite below-average on-time rates. Six of 31 completed projects scored below 3.5 on satisfaction; these are disproportionate drivers of NPS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Angela Torres (Senior Manager) led the Cardinal Health engagement across three hospital networks — consider recognizing her and the team in this session. The Apex reference call and the Cardinal referrals are the highest-value downstream outcomes from any FY2025 engagements.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Combined revenue leakage: Empire Retail $180K shortfall; Triumph Automotive was a Q3 cash flow timing gap, not lost revenue — the scope amendment was eventually processed. Total estimated leakage ~$180K against $43.7M firm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churn breakdown: 2 pricing losses, 2 competitive losses, 2 budget-driven, 1 relationship change, 1 natural scope completion. FY2023: 75 clients / 70 renewed / 5 churned; FY2024: 75 / 64 / 11; FY2025: 75 / 67 /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flat NPS in a year of strong revenue growth means the firm is adding clients without deepening existing relationships. The 45% detractor share warrants a dedicated remediation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at-risk projects represent ~10% of the active portfolio by count — individual account reviews recommended at the next QBR. Technology &amp; Digital capacity constraint is the most urgent forward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priorities are sequenced intentionally: delivery consistency is the most urgent (internal process fix), detractor conversion is medium-term, and T&amp;D capacity is a near-term hiring decision the Partners can take in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Anticipated Q&amp;A: Revenue grew 13% but on-time delivery fell to 55% — the specific root causes identified are process failures rather than pure capacity failures. NPS is flat because retention measures whether clients renew while NPS measures relationship depth — a client can renew out of inertia without becoming a promoter.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2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23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24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28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Meridian Consulting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CCCCCC"/>
                </a:solidFill>
                <a:latin typeface="Arial"/>
              </a:rPr>
              <a:t>FY2025 Annual Performance Review</a:t>
            </a:r>
          </a:p>
          <a:p>
            <a:r>
              <a:rPr sz="2000" b="0" i="0">
                <a:solidFill>
                  <a:srgbClr val="CCCCCC"/>
                </a:solidFill>
                <a:latin typeface="Arial"/>
              </a:rPr>
              <a:t>Executive Leadership Team</a:t>
            </a:r>
          </a:p>
          <a:p>
            <a:r>
              <a:rPr sz="2000" b="0" i="0">
                <a:solidFill>
                  <a:srgbClr val="CCCCCC"/>
                </a:solidFill>
                <a:latin typeface="Arial"/>
              </a:rPr>
              <a:t>May 29, 2026 · 30 minutes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Executive Summary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Financial Performance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Project Delivery Quality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Client Health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Active Pipeline &amp; Practice Capacity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0" i="0">
                <a:solidFill>
                  <a:srgbClr val="1D1D1F"/>
                </a:solidFill>
                <a:latin typeface="Arial"/>
              </a:rPr>
              <a:t>Strategic Priorities for FY2026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Revenue: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$43.7M (+13.0% YoY); margin held at 35.8% — third straight year of double-digit growth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Delivery: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On-time completion fell to 54.8% (from 68.8%) — primary operational risk for FY2026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Outlook: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$48.5M backlog across 58 active projects; priority is converting growth into delivery consistency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Financial Performance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Revenue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$43.7M in FY2025 (+13.0% YoY) — third consecutive year of double-digit growth. Three-year CAGR ~14.4%. Operating margin held in a tight 35.6–35.8% band throughout.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FY2025 Quarterly Progression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Q2 and Q4 both exceeded $11.5M; Q1 and Q3 softer. Q1 margin peaked at 37.3% (favorable practice mix); Q2–Q4 normalized to 35.3–35.6%.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Revenue by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All five practices grew within a 12.0–13.5% band — broad-based momentum. Technology &amp; Digital leads at $12.3M (28% of firm revenue).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Project Delivery Quality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On-Time Completion and Client Satisfaction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31 projects completed ($20.5M). On-time rate: 54.8% — down sharply from 68.8% in FY2024. Avg. satisfaction: 4.15/5.0 (up slightly).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Practice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Projects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On-Time Rate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Avg. Satisfaction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Avg. Margin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Operations Excellence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3.92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29.8%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Strategy &amp; Growth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4.50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27.1%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Technology &amp; Digital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4.09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31.6%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HR &amp; People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4.44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30.3%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Finance &amp; Risk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3.91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32.6%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Notable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Apex Financial Corp (P2241):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$1.1M, delivered 2 weeks early. CFO reference call; follow-on compliance opportunity in negotiation.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Cardinal Health Systems (P2267):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Satisfaction 4.8/5.0. Methodology packaged as MCG framework; two direct referrals.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Quantum Computing Inc (P2289):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Satisfaction 4.6/5.0. CTO: “The clearest technical roadmap we’ve ever received from an external adviser.”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Delivery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Triumph Automotive (P2278):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6 weeks over; scope expanded mid-engagement with no SOW gate. Q3 cash flow gap; follow-on renewal risk flagged.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1" i="0">
                <a:solidFill>
                  <a:srgbClr val="1D1D1F"/>
                </a:solidFill>
                <a:latin typeface="Arial"/>
              </a:rPr>
              <a:t>Empire Retail (P2303):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Partial delivery — $320K of $500K — after three sponsor changes. No escalation protocol; firm not pursuing further work.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None/>
            </a:pPr>
            <a:r>
              <a:rPr sz="1800" b="0" i="1">
                <a:solidFill>
                  <a:srgbClr val="6E6E73"/>
                </a:solidFill>
                <a:latin typeface="Arial"/>
              </a:rPr>
              <a:t>Common root cause: SOW and escalation design did not keep pace with mid-engagement 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Client Health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Client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Recovered to 89.3% in FY2025, up from the FY2024 trough (85.3%). Eight churns; 4 were pricing- or competition-driven. Not yet back to FY2023’s 93.3%.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2148840"/>
          <a:ext cx="10545775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Client NPS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Avg. NPS 54.5 — essentially flat vs. FY2024 (54.3). Promoters slipped 29%→26%; detractor share held at 45% (50 clients at risk).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5258"/>
                <a:gridCol w="3515258"/>
                <a:gridCol w="3515258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FY2024 (n=112)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FY2025 (n=112)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Promoters (≥70)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32 (29%)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29 (26%)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Passives (50–69)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30 (27%)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33 (29%)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Detractors (&lt;50)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50 (45%)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50 (45%)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Avg. NPS score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54.3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54.5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Strengths: analytical rigor, responsiveness. Improvement areas: consultant continuity, translating recommendations into action plans.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Active Pipeline &amp; Practice Capacity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Active Pipeline and Practice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$48.5M contracted across 58 engagements: 42 on track, 7 ahead, 6 at risk, 3 on hold.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03120"/>
          <a:ext cx="10545775" cy="26517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515258"/>
                <a:gridCol w="3515258"/>
                <a:gridCol w="3515258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Practice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Active Projects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 i="0">
                          <a:solidFill>
                            <a:srgbClr val="1D1D1F"/>
                          </a:solidFill>
                          <a:latin typeface="Arial"/>
                        </a:rPr>
                        <a:t>Contracted Value</a:t>
                      </a:r>
                    </a:p>
                  </a:txBody>
                  <a:tcPr anchor="ctr" marL="109728" marR="109728">
                    <a:lnB w="19050" cap="flat" cmpd="sng" algn="ctr">
                      <a:solidFill>
                        <a:srgbClr val="1D1D1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HR &amp; People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$15.4M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Strategy &amp; Growth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$12.2M</a:t>
                      </a:r>
                    </a:p>
                  </a:txBody>
                  <a:tcPr anchor="ctr" marL="109728" marR="109728">
                    <a:lnB w="9525" cap="flat" cmpd="sng" algn="ctr">
                      <a:solidFill>
                        <a:srgbClr val="E0E0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Finance &amp; Risk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$8.5M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Technology &amp; Digital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$6.4M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Operations Excellence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 i="0">
                          <a:solidFill>
                            <a:srgbClr val="1D1D1F"/>
                          </a:solidFill>
                          <a:latin typeface="Arial"/>
                        </a:rPr>
                        <a:t>$6.1M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02920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6E6E73"/>
                </a:solidFill>
                <a:latin typeface="Arial"/>
              </a:rPr>
              <a:t>Capacity watch — T&amp;D: 3 senior consultants at ≥95% utilization; $6.2M pipeline at risk without two Senior Consultant hires.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Strategic Priorities for FY2026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Restore delivery consistency.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On-time rate fell to 54.8%. Implement firm-wide SOW standard with explicit scope gates and sponsor-change escalation clauses.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Convert NPS detractors.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45% of clients in the detractor band. Targeted account recovery + improvements in consultant continuity and action plan delivery.</a:t>
            </a:r>
          </a:p>
          <a:p>
            <a:pPr marL="88900" indent="-88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sz="1800" b="1" i="0">
                <a:solidFill>
                  <a:srgbClr val="1D1D1F"/>
                </a:solidFill>
                <a:latin typeface="Arial"/>
              </a:rPr>
              <a:t>Resolve T&amp;D capacity. </a:t>
            </a:r>
            <a:r>
              <a:rPr sz="1800" b="0" i="0">
                <a:solidFill>
                  <a:srgbClr val="1D1D1F"/>
                </a:solidFill>
                <a:latin typeface="Arial"/>
              </a:rPr>
              <a:t>Highest pipeline ($6.2M), largest revenue share (28%), over-capacity now. Approve two Senior Consultant hires.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D1D1F"/>
                </a:solidFill>
                <a:latin typeface="Arial"/>
              </a:rP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033271"/>
            <a:ext cx="4754880" cy="38100"/>
          </a:xfrm>
          <a:prstGeom prst="rect">
            <a:avLst/>
          </a:prstGeom>
          <a:solidFill>
            <a:srgbClr val="0066CC">
              <a:alpha val="8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FY2025 revenue reached $43.7M (+13.0% YoY) — the third consecutive year of double-digit growth; operating margin held at 35.8%.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All five practices grew 12–13.5% YoY — growth is broad-based, not dependent on any single practice.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On-time project completion declined to 54.8% (from 68.8% in FY2024); this is the primary operational risk heading into FY2026.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Client retention recovered to 89.3% (from FY2024’s trough of 85.3%); NPS is flat with 45% of clients still in the detractor band.</a:t>
            </a:r>
          </a:p>
          <a:p>
            <a:pPr marL="152400" indent="-152400">
              <a:lnSpc>
                <a:spcPct val="115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D1D1F"/>
                </a:solidFill>
                <a:latin typeface="Arial"/>
              </a:rPr>
              <a:t>Active backlog of $48.5M across 58 projects provides strong FY2026 revenue visibility; Technology &amp; Digital capacity must be resolved to realize the pipeline.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4577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66CC"/>
      </a:accent1>
      <a:accent2>
        <a:srgbClr val="E8893B"/>
      </a:accent2>
      <a:accent3>
        <a:srgbClr val="34A853"/>
      </a:accent3>
      <a:accent4>
        <a:srgbClr val="C44D8A"/>
      </a:accent4>
      <a:accent5>
        <a:srgbClr val="5AC8DC"/>
      </a:accent5>
      <a:accent6>
        <a:srgbClr val="5E5CE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