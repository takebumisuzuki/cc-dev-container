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spPr>
            <a:solidFill>
              <a:schemeClr val="accent1">
                <a:alpha val="87000"/>
              </a:schemeClr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22</c:v>
                </c:pt>
                <c:pt idx="2">
                  <c:v>25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chemeClr val="accent2">
                <a:alpha val="87000"/>
              </a:schemeClr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24</c:v>
                </c:pt>
                <c:pt idx="2">
                  <c:v>23</c:v>
                </c:pt>
                <c:pt idx="3">
                  <c:v>33</c:v>
                </c:pt>
              </c:numCache>
            </c:numRef>
          </c:val>
        </c:ser>
        <c:gapWidth val="160"/>
        <c:overlap val="-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9D9D9"/>
              </a:solidFill>
              <a:prstDash val="sysDot"/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>
              <a:solidFill>
                <a:schemeClr val="accent1">
                  <a:alpha val="87000"/>
                </a:schemeClr>
              </a:solidFill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15</c:v>
                </c:pt>
                <c:pt idx="2">
                  <c:v>14</c:v>
                </c:pt>
                <c:pt idx="3">
                  <c:v>19</c:v>
                </c:pt>
                <c:pt idx="4">
                  <c:v>22</c:v>
                </c:pt>
                <c:pt idx="5">
                  <c:v>27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D9D9D9"/>
              </a:solidFill>
              <a:prstDash val="sysDot"/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chemeClr val="accent1">
                  <a:alpha val="87000"/>
                </a:schemeClr>
              </a:solidFill>
            </c:spPr>
          </c:dPt>
          <c:dPt>
            <c:idx val="1"/>
            <c:spPr>
              <a:solidFill>
                <a:schemeClr val="accent2">
                  <a:alpha val="87000"/>
                </a:schemeClr>
              </a:solidFill>
            </c:spPr>
          </c:dPt>
          <c:dPt>
            <c:idx val="2"/>
            <c:spPr>
              <a:solidFill>
                <a:schemeClr val="accent3">
                  <a:alpha val="87000"/>
                </a:schemeClr>
              </a:solidFill>
            </c:spPr>
          </c:dPt>
          <c:dPt>
            <c:idx val="3"/>
            <c:spPr>
              <a:solidFill>
                <a:schemeClr val="accent4">
                  <a:alpha val="87000"/>
                </a:schemeClr>
              </a:solidFill>
            </c:spPr>
          </c:dPt>
          <c:cat>
            <c:strRef>
              <c:f>Sheet1!$A$2:$A$5</c:f>
              <c:strCache>
                <c:ptCount val="4"/>
                <c:pt idx="0">
                  <c:v>Enterprise</c:v>
                </c:pt>
                <c:pt idx="1">
                  <c:v>SMB</c:v>
                </c:pt>
                <c:pt idx="2">
                  <c:v>Consumer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</c:v>
                </c:pt>
                <c:pt idx="1">
                  <c:v>28</c:v>
                </c:pt>
                <c:pt idx="2">
                  <c:v>22</c:v>
                </c:pt>
                <c:pt idx="3">
                  <c:v>8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 val="r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chemeClr val="accent1">
                <a:alpha val="87000"/>
              </a:schemeClr>
            </a:solidFill>
          </c:spPr>
          <c:cat>
            <c:strRef>
              <c:f>Sheet1!$A$2:$A$6</c:f>
              <c:strCache>
                <c:ptCount val="5"/>
                <c:pt idx="0">
                  <c:v>0-20</c:v>
                </c:pt>
                <c:pt idx="1">
                  <c:v>20-40</c:v>
                </c:pt>
                <c:pt idx="2">
                  <c:v>40-60</c:v>
                </c:pt>
                <c:pt idx="3">
                  <c:v>60-80</c:v>
                </c:pt>
                <c:pt idx="4">
                  <c:v>80-100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12</c:v>
                </c:pt>
                <c:pt idx="2">
                  <c:v>45</c:v>
                </c:pt>
                <c:pt idx="3">
                  <c:v>30</c:v>
                </c:pt>
                <c:pt idx="4">
                  <c:v>10</c:v>
                </c:pt>
              </c:numCache>
            </c:numRef>
          </c:val>
        </c:ser>
        <c:gapWidth val="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9D9D9"/>
              </a:solidFill>
              <a:prstDash val="sysDot"/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chemeClr val="accent1">
                <a:alpha val="87000"/>
              </a:schemeClr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</c:v>
                </c:pt>
                <c:pt idx="1">
                  <c:v>24</c:v>
                </c:pt>
                <c:pt idx="2">
                  <c:v>23</c:v>
                </c:pt>
                <c:pt idx="3">
                  <c:v>33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9D9D9"/>
              </a:solidFill>
              <a:prstDash val="sysDot"/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Plan</c:v>
                </c:pt>
              </c:strCache>
            </c:strRef>
          </c:tx>
          <c:spPr>
            <a:solidFill>
              <a:schemeClr val="accent1">
                <a:alpha val="87000"/>
              </a:schemeClr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</c:v>
                </c:pt>
                <c:pt idx="1">
                  <c:v>22</c:v>
                </c:pt>
                <c:pt idx="2">
                  <c:v>25</c:v>
                </c:pt>
                <c:pt idx="3">
                  <c:v>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chemeClr val="accent2">
                <a:alpha val="87000"/>
              </a:schemeClr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</c:v>
                </c:pt>
                <c:pt idx="1">
                  <c:v>24</c:v>
                </c:pt>
                <c:pt idx="2">
                  <c:v>23</c:v>
                </c:pt>
                <c:pt idx="3">
                  <c:v>33</c:v>
                </c:pt>
              </c:numCache>
            </c:numRef>
          </c:val>
        </c:ser>
        <c:gapWidth val="160"/>
        <c:overlap val="-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9D9D9"/>
              </a:solidFill>
              <a:prstDash val="sysDot"/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D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46888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Presentation Title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 i="0">
                <a:solidFill>
                  <a:srgbClr val="CCCCCC"/>
                </a:solidFill>
                <a:latin typeface="Arial"/>
              </a:rPr>
              <a:t>Subtitle / author /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Numbered 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47650" indent="-247650">
              <a:lnSpc>
                <a:spcPct val="115000"/>
              </a:lnSpc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1D1D1F"/>
                </a:solidFill>
                <a:latin typeface="Arial"/>
              </a:rPr>
              <a:t>First key point goes here</a:t>
            </a:r>
          </a:p>
          <a:p>
            <a:pPr marL="247650" indent="-247650">
              <a:lnSpc>
                <a:spcPct val="115000"/>
              </a:lnSpc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1D1D1F"/>
                </a:solidFill>
                <a:latin typeface="Arial"/>
              </a:rPr>
              <a:t>Second supporting point</a:t>
            </a:r>
          </a:p>
          <a:p>
            <a:pPr marL="247650" indent="-247650">
              <a:lnSpc>
                <a:spcPct val="115000"/>
              </a:lnSpc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1D1D1F"/>
                </a:solidFill>
                <a:latin typeface="Arial"/>
              </a:rPr>
              <a:t>Third point with a bit more detail</a:t>
            </a:r>
          </a:p>
          <a:p>
            <a:pPr marL="247650" indent="-247650">
              <a:lnSpc>
                <a:spcPct val="115000"/>
              </a:lnSpc>
              <a:spcAft>
                <a:spcPts val="1000"/>
              </a:spcAft>
              <a:buAutoNum type="arabicPeriod"/>
            </a:pPr>
            <a:r>
              <a:rPr sz="1800" b="0" i="0">
                <a:solidFill>
                  <a:srgbClr val="1D1D1F"/>
                </a:solidFill>
                <a:latin typeface="Arial"/>
              </a:rPr>
              <a:t>Fourth point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Bulleted 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3200" indent="-20320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1D1D1F"/>
                </a:solidFill>
                <a:latin typeface="Arial"/>
              </a:rPr>
              <a:t>First key point goes here</a:t>
            </a:r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1D1D1F"/>
                </a:solidFill>
                <a:latin typeface="Arial"/>
              </a:rPr>
              <a:t>Second supporting point</a:t>
            </a:r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1D1D1F"/>
                </a:solidFill>
                <a:latin typeface="Arial"/>
              </a:rPr>
              <a:t>Third point with a bit more detail</a:t>
            </a:r>
          </a:p>
          <a:p>
            <a:pPr marL="203200" indent="-203200">
              <a:lnSpc>
                <a:spcPct val="115000"/>
              </a:lnSpc>
              <a:spcAft>
                <a:spcPts val="1000"/>
              </a:spcAft>
              <a:buFont typeface="Arial"/>
              <a:buChar char="•"/>
            </a:pPr>
            <a:r>
              <a:rPr sz="1800" b="0" i="0">
                <a:solidFill>
                  <a:srgbClr val="1D1D1F"/>
                </a:solidFill>
                <a:latin typeface="Arial"/>
              </a:rPr>
              <a:t>Fourth point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D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Section Divider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Two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4998567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0066CC"/>
                </a:solidFill>
                <a:latin typeface="Arial"/>
              </a:rPr>
              <a:t>Left heading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D1D1F"/>
                </a:solidFill>
                <a:latin typeface="Arial"/>
              </a:rPr>
              <a:t>Left point one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D1D1F"/>
                </a:solidFill>
                <a:latin typeface="Arial"/>
              </a:rPr>
              <a:t>Left point two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D1D1F"/>
                </a:solidFill>
                <a:latin typeface="Arial"/>
              </a:rPr>
              <a:t>Left point three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737360"/>
            <a:ext cx="4998567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0066CC"/>
                </a:solidFill>
                <a:latin typeface="Arial"/>
              </a:rPr>
              <a:t>Right heading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D1D1F"/>
                </a:solidFill>
                <a:latin typeface="Arial"/>
              </a:rPr>
              <a:t>Right point one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D1D1F"/>
                </a:solidFill>
                <a:latin typeface="Arial"/>
              </a:rPr>
              <a:t>Right point two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1D1D1F"/>
                </a:solidFill>
                <a:latin typeface="Arial"/>
              </a:rPr>
              <a:t>Right point three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Three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321045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0066CC"/>
                </a:solidFill>
                <a:latin typeface="Arial"/>
              </a:rPr>
              <a:t>Heading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D1D1F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D1D1F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D1D1F"/>
                </a:solidFill>
                <a:latin typeface="Arial"/>
              </a:rPr>
              <a:t>Point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90618" y="1737360"/>
            <a:ext cx="321045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0066CC"/>
                </a:solidFill>
                <a:latin typeface="Arial"/>
              </a:rPr>
              <a:t>Heading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D1D1F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D1D1F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D1D1F"/>
                </a:solidFill>
                <a:latin typeface="Arial"/>
              </a:rPr>
              <a:t>Point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58276" y="1737360"/>
            <a:ext cx="3210458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0066CC"/>
                </a:solidFill>
                <a:latin typeface="Arial"/>
              </a:rPr>
              <a:t>Heading 3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D1D1F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D1D1F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1D1D1F"/>
                </a:solidFill>
                <a:latin typeface="Arial"/>
              </a:rPr>
              <a:t>Point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Four Columns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0066CC"/>
                </a:solidFill>
                <a:latin typeface="Arial"/>
              </a:rPr>
              <a:t>Heading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Arial"/>
              </a:rPr>
              <a:t>Point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73703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0066CC"/>
                </a:solidFill>
                <a:latin typeface="Arial"/>
              </a:rPr>
              <a:t>Heading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Arial"/>
              </a:rPr>
              <a:t>Point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0066CC"/>
                </a:solidFill>
                <a:latin typeface="Arial"/>
              </a:rPr>
              <a:t>Heading 3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Arial"/>
              </a:rPr>
              <a:t>Point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75191" y="1737360"/>
            <a:ext cx="2293543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800" b="1" i="0">
                <a:solidFill>
                  <a:srgbClr val="0066CC"/>
                </a:solidFill>
                <a:latin typeface="Arial"/>
              </a:rPr>
              <a:t>Heading 4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Arial"/>
              </a:rPr>
              <a:t>Point 1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Arial"/>
              </a:rPr>
              <a:t>Point 2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1D1D1F"/>
                </a:solidFill>
                <a:latin typeface="Arial"/>
              </a:rPr>
              <a:t>Point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Bar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6E6E73"/>
                </a:solidFill>
                <a:latin typeface="Arial"/>
              </a:rPr>
              <a:t>One-line takeaway about what this chart shows.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48840"/>
          <a:ext cx="10545775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Line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6E6E73"/>
                </a:solidFill>
                <a:latin typeface="Arial"/>
              </a:rPr>
              <a:t>One-line takeaway about the trend over time.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48840"/>
          <a:ext cx="10545775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Pie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6E6E73"/>
                </a:solidFill>
                <a:latin typeface="Arial"/>
              </a:rPr>
              <a:t>One-line takeaway about the composition.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932115" y="2148840"/>
          <a:ext cx="6327465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Histogram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6E6E73"/>
                </a:solidFill>
                <a:latin typeface="Arial"/>
              </a:rPr>
              <a:t>One-line takeaway about the distribution.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2148840"/>
          <a:ext cx="10545775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Text +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800"/>
              </a:spcAft>
            </a:pPr>
            <a:r>
              <a:rPr sz="2000" b="1" i="0">
                <a:solidFill>
                  <a:srgbClr val="0066CC"/>
                </a:solidFill>
                <a:latin typeface="Arial"/>
              </a:rPr>
              <a:t>Key takeaway heading</a:t>
            </a:r>
          </a:p>
          <a:p>
            <a:pPr>
              <a:spcAft>
                <a:spcPts val="1000"/>
              </a:spcAft>
            </a:pPr>
            <a:r>
              <a:rPr sz="1700" b="0" i="0">
                <a:solidFill>
                  <a:srgbClr val="1D1D1F"/>
                </a:solidFill>
                <a:latin typeface="Arial"/>
              </a:rPr>
              <a:t>Supporting point one</a:t>
            </a:r>
          </a:p>
          <a:p>
            <a:pPr>
              <a:spcAft>
                <a:spcPts val="1000"/>
              </a:spcAft>
            </a:pPr>
            <a:r>
              <a:rPr sz="1700" b="0" i="0">
                <a:solidFill>
                  <a:srgbClr val="1D1D1F"/>
                </a:solidFill>
                <a:latin typeface="Arial"/>
              </a:rPr>
              <a:t>Supporting point two</a:t>
            </a:r>
          </a:p>
          <a:p>
            <a:pPr>
              <a:spcAft>
                <a:spcPts val="1000"/>
              </a:spcAft>
            </a:pPr>
            <a:r>
              <a:rPr sz="1700" b="0" i="0">
                <a:solidFill>
                  <a:srgbClr val="1D1D1F"/>
                </a:solidFill>
                <a:latin typeface="Arial"/>
              </a:rPr>
              <a:t>Supporting point three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577840" y="1828800"/>
          <a:ext cx="5790895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6E6E73"/>
                </a:solidFill>
                <a:latin typeface="Arial"/>
              </a:rPr>
              <a:t>Intro line describing what the table shows.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10545775" cy="2651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515258"/>
                <a:gridCol w="3515258"/>
                <a:gridCol w="3515259"/>
              </a:tblGrid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1D1D1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anchor="ctr" marL="109728" marR="109728">
                    <a:lnB w="19050" cap="flat" cmpd="sng" algn="ctr">
                      <a:solidFill>
                        <a:srgbClr val="1D1D1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1D1D1F"/>
                          </a:solidFill>
                          <a:latin typeface="Arial"/>
                        </a:rPr>
                        <a:t>Customers</a:t>
                      </a:r>
                    </a:p>
                  </a:txBody>
                  <a:tcPr anchor="ctr" marL="109728" marR="109728">
                    <a:lnB w="19050" cap="flat" cmpd="sng" algn="ctr">
                      <a:solidFill>
                        <a:srgbClr val="1D1D1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1D1D1F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anchor="ctr" marL="109728" marR="109728">
                    <a:lnB w="19050" cap="flat" cmpd="sng" algn="ctr">
                      <a:solidFill>
                        <a:srgbClr val="1D1D1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D1D1F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1D1D1F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1D1D1F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D1D1F"/>
                          </a:solidFill>
                          <a:latin typeface="Arial"/>
                        </a:rPr>
                        <a:t>SMB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1D1D1F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1D1D1F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1D1D1F"/>
                          </a:solidFill>
                          <a:latin typeface="Arial"/>
                        </a:rPr>
                        <a:t>Consumer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1D1D1F"/>
                          </a:solidFill>
                          <a:latin typeface="Arial"/>
                        </a:rPr>
                        <a:t>5,300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1D1D1F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02920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6E6E73"/>
                </a:solidFill>
                <a:latin typeface="Arial"/>
              </a:rPr>
              <a:t>Source / footnote line below the table.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Two Tables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6E6E73"/>
                </a:solidFill>
                <a:latin typeface="Arial"/>
              </a:rPr>
              <a:t>Intro line describing the two tables.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5044287" cy="2651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81429"/>
                <a:gridCol w="1681429"/>
                <a:gridCol w="1681429"/>
              </a:tblGrid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1D1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anchor="ctr" marL="109728" marR="109728">
                    <a:lnB w="19050" cap="flat" cmpd="sng" algn="ctr">
                      <a:solidFill>
                        <a:srgbClr val="1D1D1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1D1D1F"/>
                          </a:solidFill>
                          <a:latin typeface="Arial"/>
                        </a:rPr>
                        <a:t>Customers</a:t>
                      </a:r>
                    </a:p>
                  </a:txBody>
                  <a:tcPr anchor="ctr" marL="109728" marR="109728">
                    <a:lnB w="19050" cap="flat" cmpd="sng" algn="ctr">
                      <a:solidFill>
                        <a:srgbClr val="1D1D1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1D1D1F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anchor="ctr" marL="109728" marR="109728">
                    <a:lnB w="19050" cap="flat" cmpd="sng" algn="ctr">
                      <a:solidFill>
                        <a:srgbClr val="1D1D1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SMB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Consumer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5,300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324447" y="2103120"/>
          <a:ext cx="5044287" cy="26517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81429"/>
                <a:gridCol w="1681429"/>
                <a:gridCol w="1681429"/>
              </a:tblGrid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1D1F"/>
                          </a:solidFill>
                          <a:latin typeface="Arial"/>
                        </a:rPr>
                        <a:t>Segment</a:t>
                      </a:r>
                    </a:p>
                  </a:txBody>
                  <a:tcPr anchor="ctr" marL="109728" marR="109728">
                    <a:lnB w="19050" cap="flat" cmpd="sng" algn="ctr">
                      <a:solidFill>
                        <a:srgbClr val="1D1D1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1D1D1F"/>
                          </a:solidFill>
                          <a:latin typeface="Arial"/>
                        </a:rPr>
                        <a:t>Customers</a:t>
                      </a:r>
                    </a:p>
                  </a:txBody>
                  <a:tcPr anchor="ctr" marL="109728" marR="109728">
                    <a:lnB w="19050" cap="flat" cmpd="sng" algn="ctr">
                      <a:solidFill>
                        <a:srgbClr val="1D1D1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1D1D1F"/>
                          </a:solidFill>
                          <a:latin typeface="Arial"/>
                        </a:rPr>
                        <a:t>Revenue</a:t>
                      </a:r>
                    </a:p>
                  </a:txBody>
                  <a:tcPr anchor="ctr" marL="109728" marR="109728">
                    <a:lnB w="19050" cap="flat" cmpd="sng" algn="ctr">
                      <a:solidFill>
                        <a:srgbClr val="1D1D1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Enterprise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SMB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620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Consumer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5,300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02920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6E6E73"/>
                </a:solidFill>
                <a:latin typeface="Arial"/>
              </a:rPr>
              <a:t>Source / footnote line below the tables.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Table + Chart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6E6E73"/>
                </a:solidFill>
                <a:latin typeface="Arial"/>
              </a:rPr>
              <a:t>Intro line describing the table and its chart.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103120"/>
          <a:ext cx="4937760" cy="29260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45920"/>
                <a:gridCol w="1645920"/>
                <a:gridCol w="164592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400" b="1" i="0">
                          <a:solidFill>
                            <a:srgbClr val="1D1D1F"/>
                          </a:solidFill>
                          <a:latin typeface="Arial"/>
                        </a:rPr>
                        <a:t>Quarter</a:t>
                      </a:r>
                    </a:p>
                  </a:txBody>
                  <a:tcPr anchor="ctr" marL="109728" marR="109728">
                    <a:lnB w="19050" cap="flat" cmpd="sng" algn="ctr">
                      <a:solidFill>
                        <a:srgbClr val="1D1D1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1D1D1F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anchor="ctr" marL="109728" marR="109728">
                    <a:lnB w="19050" cap="flat" cmpd="sng" algn="ctr">
                      <a:solidFill>
                        <a:srgbClr val="1D1D1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 i="0">
                          <a:solidFill>
                            <a:srgbClr val="1D1D1F"/>
                          </a:solidFill>
                          <a:latin typeface="Arial"/>
                        </a:rPr>
                        <a:t>Actual</a:t>
                      </a:r>
                    </a:p>
                  </a:txBody>
                  <a:tcPr anchor="ctr" marL="109728" marR="109728">
                    <a:lnB w="19050" cap="flat" cmpd="sng" algn="ctr">
                      <a:solidFill>
                        <a:srgbClr val="1D1D1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anchor="ctr" marL="109728" marR="109728">
                    <a:lnB w="9525" cap="flat" cmpd="sng" algn="ctr">
                      <a:solidFill>
                        <a:srgbClr val="E0E0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Q4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 i="0">
                          <a:solidFill>
                            <a:srgbClr val="1D1D1F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309360" y="2103120"/>
          <a:ext cx="5059375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521208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6E6E73"/>
                </a:solidFill>
                <a:latin typeface="Arial"/>
              </a:rPr>
              <a:t>Source / footnote line below the table and chart.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Card Grid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6E6E73"/>
                </a:solidFill>
                <a:latin typeface="Arial"/>
              </a:rPr>
              <a:t>Intro line above the cards.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48840"/>
            <a:ext cx="3271418" cy="2468880"/>
          </a:xfrm>
          <a:prstGeom prst="roundRect">
            <a:avLst>
              <a:gd name="adj" fmla="val 7000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0066CC"/>
                </a:solidFill>
                <a:latin typeface="Arial"/>
              </a:rPr>
              <a:t>12%</a:t>
            </a:r>
          </a:p>
          <a:p>
            <a:pPr algn="ctr"/>
            <a:r>
              <a:rPr sz="1500" b="0" i="0">
                <a:solidFill>
                  <a:srgbClr val="6E6E73"/>
                </a:solidFill>
                <a:latin typeface="Arial"/>
              </a:rPr>
              <a:t>Metric 1 label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60138" y="2148840"/>
            <a:ext cx="3271418" cy="2468880"/>
          </a:xfrm>
          <a:prstGeom prst="roundRect">
            <a:avLst>
              <a:gd name="adj" fmla="val 7000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0066CC"/>
                </a:solidFill>
                <a:latin typeface="Arial"/>
              </a:rPr>
              <a:t>24%</a:t>
            </a:r>
          </a:p>
          <a:p>
            <a:pPr algn="ctr"/>
            <a:r>
              <a:rPr sz="1500" b="0" i="0">
                <a:solidFill>
                  <a:srgbClr val="6E6E73"/>
                </a:solidFill>
                <a:latin typeface="Arial"/>
              </a:rPr>
              <a:t>Metric 2 label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7316" y="2148840"/>
            <a:ext cx="3271418" cy="2468880"/>
          </a:xfrm>
          <a:prstGeom prst="roundRect">
            <a:avLst>
              <a:gd name="adj" fmla="val 7000"/>
            </a:avLst>
          </a:prstGeom>
          <a:solidFill>
            <a:srgbClr val="F5F5F7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 i="0">
                <a:solidFill>
                  <a:srgbClr val="0066CC"/>
                </a:solidFill>
                <a:latin typeface="Arial"/>
              </a:rPr>
              <a:t>36%</a:t>
            </a:r>
          </a:p>
          <a:p>
            <a:pPr algn="ctr"/>
            <a:r>
              <a:rPr sz="1500" b="0" i="0">
                <a:solidFill>
                  <a:srgbClr val="6E6E73"/>
                </a:solidFill>
                <a:latin typeface="Arial"/>
              </a:rPr>
              <a:t>Metric 3 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92040"/>
            <a:ext cx="1054577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 i="0">
                <a:solidFill>
                  <a:srgbClr val="6E6E73"/>
                </a:solidFill>
                <a:latin typeface="Arial"/>
              </a:rPr>
              <a:t>Note / source line below the cards.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Image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10545775" cy="39319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Text + Image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4297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</a:pPr>
            <a:r>
              <a:rPr sz="2000" b="1" i="0">
                <a:solidFill>
                  <a:srgbClr val="0066CC"/>
                </a:solidFill>
                <a:latin typeface="Arial"/>
              </a:rPr>
              <a:t>Heading</a:t>
            </a:r>
          </a:p>
          <a:p>
            <a:pPr>
              <a:spcAft>
                <a:spcPts val="1000"/>
              </a:spcAft>
            </a:pPr>
            <a:r>
              <a:rPr sz="1700" b="0" i="0">
                <a:solidFill>
                  <a:srgbClr val="1D1D1F"/>
                </a:solidFill>
                <a:latin typeface="Arial"/>
              </a:rPr>
              <a:t>Supporting point one</a:t>
            </a:r>
          </a:p>
          <a:p>
            <a:pPr>
              <a:spcAft>
                <a:spcPts val="1000"/>
              </a:spcAft>
            </a:pPr>
            <a:r>
              <a:rPr sz="1700" b="0" i="0">
                <a:solidFill>
                  <a:srgbClr val="1D1D1F"/>
                </a:solidFill>
                <a:latin typeface="Arial"/>
              </a:rPr>
              <a:t>Supporting point two</a:t>
            </a:r>
          </a:p>
          <a:p>
            <a:pPr>
              <a:spcAft>
                <a:spcPts val="1000"/>
              </a:spcAft>
            </a:pPr>
            <a:r>
              <a:rPr sz="1700" b="0" i="0">
                <a:solidFill>
                  <a:srgbClr val="1D1D1F"/>
                </a:solidFill>
                <a:latin typeface="Arial"/>
              </a:rPr>
              <a:t>Supporting point three</a:t>
            </a:r>
          </a:p>
        </p:txBody>
      </p:sp>
      <p:pic>
        <p:nvPicPr>
          <p:cNvPr id="5" name="Picture 4" descr="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828800"/>
            <a:ext cx="5790895" cy="38404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D1D1F"/>
                </a:solidFill>
                <a:latin typeface="Arial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33271"/>
            <a:ext cx="4754880" cy="3810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 i="0">
                <a:solidFill>
                  <a:srgbClr val="1D1D1F"/>
                </a:solidFill>
                <a:latin typeface="Arial"/>
              </a:rPr>
              <a:t>Summary point one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D1D1F"/>
                </a:solidFill>
                <a:latin typeface="Arial"/>
              </a:rPr>
              <a:t>Summary point two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1D1D1F"/>
                </a:solidFill>
                <a:latin typeface="Arial"/>
              </a:rPr>
              <a:t>Summary point three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937760"/>
            <a:ext cx="10545775" cy="1005840"/>
          </a:xfrm>
          <a:prstGeom prst="rect">
            <a:avLst/>
          </a:prstGeom>
          <a:solidFill>
            <a:srgbClr val="F5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74320"/>
          <a:lstStyle/>
          <a:p>
            <a:pPr algn="l"/>
            <a:r>
              <a:rPr sz="1800" b="1" i="0">
                <a:solidFill>
                  <a:srgbClr val="1D1D1F"/>
                </a:solidFill>
                <a:latin typeface="Arial"/>
              </a:rPr>
              <a:t>Key message goes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937760"/>
            <a:ext cx="82296" cy="1005840"/>
          </a:xfrm>
          <a:prstGeom prst="rect">
            <a:avLst/>
          </a:prstGeom>
          <a:solidFill>
            <a:srgbClr val="0066CC">
              <a:alpha val="8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1D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45775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840480"/>
            <a:ext cx="1054577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CCCC"/>
                </a:solidFill>
                <a:latin typeface="Arial"/>
              </a:rPr>
              <a:t>name@example.com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066CC"/>
      </a:accent1>
      <a:accent2>
        <a:srgbClr val="E8893B"/>
      </a:accent2>
      <a:accent3>
        <a:srgbClr val="34A853"/>
      </a:accent3>
      <a:accent4>
        <a:srgbClr val="C44D8A"/>
      </a:accent4>
      <a:accent5>
        <a:srgbClr val="5AC8DC"/>
      </a:accent5>
      <a:accent6>
        <a:srgbClr val="5E5CE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0066CC"/>
      </a:accent1>
      <a:accent2>
        <a:srgbClr val="E8893B"/>
      </a:accent2>
      <a:accent3>
        <a:srgbClr val="34A853"/>
      </a:accent3>
      <a:accent4>
        <a:srgbClr val="C44D8A"/>
      </a:accent4>
      <a:accent5>
        <a:srgbClr val="5AC8DC"/>
      </a:accent5>
      <a:accent6>
        <a:srgbClr val="5E5CE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