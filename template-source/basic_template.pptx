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24</c:v>
                </c:pt>
                <c:pt idx="2">
                  <c:v>23</c:v>
                </c:pt>
                <c:pt idx="3">
                  <c:v>33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15</c:v>
                </c:pt>
                <c:pt idx="2">
                  <c:v>14</c:v>
                </c:pt>
                <c:pt idx="3">
                  <c:v>19</c:v>
                </c:pt>
                <c:pt idx="4">
                  <c:v>22</c:v>
                </c:pt>
                <c:pt idx="5">
                  <c:v>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Enterprise</c:v>
                </c:pt>
                <c:pt idx="1">
                  <c:v>SMB</c:v>
                </c:pt>
                <c:pt idx="2">
                  <c:v>Consumer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22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0-20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12</c:v>
                </c:pt>
                <c:pt idx="2">
                  <c:v>45</c:v>
                </c:pt>
                <c:pt idx="3">
                  <c:v>30</c:v>
                </c:pt>
                <c:pt idx="4">
                  <c:v>10</c:v>
                </c:pt>
              </c:numCache>
            </c:numRef>
          </c:val>
        </c:ser>
        <c:gapWidth val="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24</c:v>
                </c:pt>
                <c:pt idx="2">
                  <c:v>23</c:v>
                </c:pt>
                <c:pt idx="3">
                  <c:v>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24</c:v>
                </c:pt>
                <c:pt idx="2">
                  <c:v>23</c:v>
                </c:pt>
                <c:pt idx="3">
                  <c:v>33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Presentation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CCCCC"/>
                </a:solidFill>
                <a:latin typeface="Arial"/>
              </a:rPr>
              <a:t>Subtitle / author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Numbered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First key point goes here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Second supporting point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Third point with a bit more detail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Fourth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Bulleted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First key point goes here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Second supporting point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Third point with a bit more detail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Fourth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Section Divider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Two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99856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 i="0">
                <a:solidFill>
                  <a:srgbClr val="0066CC"/>
                </a:solidFill>
                <a:latin typeface="Arial"/>
              </a:rPr>
              <a:t>Left heading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Left point one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Left point two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Left point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737360"/>
            <a:ext cx="499856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 i="0">
                <a:solidFill>
                  <a:srgbClr val="0066CC"/>
                </a:solidFill>
                <a:latin typeface="Arial"/>
              </a:rPr>
              <a:t>Right heading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Right point one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Right point two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Right point three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Three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21045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0066CC"/>
                </a:solidFill>
                <a:latin typeface="Arial"/>
              </a:rPr>
              <a:t>Heading 1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1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2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0618" y="1737360"/>
            <a:ext cx="321045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0066CC"/>
                </a:solidFill>
                <a:latin typeface="Arial"/>
              </a:rPr>
              <a:t>Heading 2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1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2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8276" y="1737360"/>
            <a:ext cx="321045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0066CC"/>
                </a:solidFill>
                <a:latin typeface="Arial"/>
              </a:rPr>
              <a:t>Heading 3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1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2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D1D1F"/>
                </a:solidFill>
                <a:latin typeface="Arial"/>
              </a:rPr>
              <a:t>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Four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229354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0066CC"/>
                </a:solidFill>
                <a:latin typeface="Arial"/>
              </a:rPr>
              <a:t>Heading 1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1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2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3703" y="1737360"/>
            <a:ext cx="229354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0066CC"/>
                </a:solidFill>
                <a:latin typeface="Arial"/>
              </a:rPr>
              <a:t>Heading 2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1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2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737360"/>
            <a:ext cx="229354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0066CC"/>
                </a:solidFill>
                <a:latin typeface="Arial"/>
              </a:rPr>
              <a:t>Heading 3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1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2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5191" y="1737360"/>
            <a:ext cx="229354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0066CC"/>
                </a:solidFill>
                <a:latin typeface="Arial"/>
              </a:rPr>
              <a:t>Heading 4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1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2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D1D1F"/>
                </a:solidFill>
                <a:latin typeface="Arial"/>
              </a:rPr>
              <a:t>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Bar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One-line takeaway about what this chart shows.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Line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One-line takeaway about the trend over time.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Pie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One-line takeaway about the composition.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Histogram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One-line takeaway about the distribution.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Text +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</a:pPr>
            <a:r>
              <a:rPr sz="2000" b="1" i="0">
                <a:solidFill>
                  <a:srgbClr val="0066CC"/>
                </a:solidFill>
                <a:latin typeface="Arial"/>
              </a:rPr>
              <a:t>Key takeaway heading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Supporting point one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Supporting point two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Supporting point three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1828800"/>
          <a:ext cx="5790895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Intro line describing what the table shows.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15258"/>
                <a:gridCol w="3515258"/>
                <a:gridCol w="3515259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SMB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Consumer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5,300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Source / footnote line below the 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Two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Intro line describing the two tables.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5044287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81429"/>
                <a:gridCol w="1681429"/>
                <a:gridCol w="1681429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SMB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Consumer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5,300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24447" y="2103120"/>
          <a:ext cx="5044287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81429"/>
                <a:gridCol w="1681429"/>
                <a:gridCol w="1681429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SMB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Consumer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5,300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Source / footnote line below the tables.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Table +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Intro line describing the table and its chart.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4937760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5920"/>
                <a:gridCol w="1645920"/>
                <a:gridCol w="164592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Quarter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Plan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D1D1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D1D1F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2103120"/>
          <a:ext cx="505937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1208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Source / footnote line below the table and chart.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Card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Intro line above the cards.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271418" cy="246888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066CC"/>
                </a:solidFill>
                <a:latin typeface="Arial"/>
              </a:rPr>
              <a:t>12%</a:t>
            </a:r>
          </a:p>
          <a:p>
            <a:pPr algn="ctr"/>
            <a:r>
              <a:rPr sz="1500" b="0" i="0">
                <a:solidFill>
                  <a:srgbClr val="6E6E73"/>
                </a:solidFill>
                <a:latin typeface="Arial"/>
              </a:rPr>
              <a:t>Metric 1 label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0138" y="2148840"/>
            <a:ext cx="3271418" cy="246888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066CC"/>
                </a:solidFill>
                <a:latin typeface="Arial"/>
              </a:rPr>
              <a:t>24%</a:t>
            </a:r>
          </a:p>
          <a:p>
            <a:pPr algn="ctr"/>
            <a:r>
              <a:rPr sz="1500" b="0" i="0">
                <a:solidFill>
                  <a:srgbClr val="6E6E73"/>
                </a:solidFill>
                <a:latin typeface="Arial"/>
              </a:rPr>
              <a:t>Metric 2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2148840"/>
            <a:ext cx="3271418" cy="246888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066CC"/>
                </a:solidFill>
                <a:latin typeface="Arial"/>
              </a:rPr>
              <a:t>36%</a:t>
            </a:r>
          </a:p>
          <a:p>
            <a:pPr algn="ctr"/>
            <a:r>
              <a:rPr sz="1500" b="0" i="0">
                <a:solidFill>
                  <a:srgbClr val="6E6E73"/>
                </a:solidFill>
                <a:latin typeface="Arial"/>
              </a:rPr>
              <a:t>Metric 3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Note / source line below the cards.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Image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0545775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Text + Image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 i="0">
                <a:solidFill>
                  <a:srgbClr val="0066CC"/>
                </a:solidFill>
                <a:latin typeface="Arial"/>
              </a:rPr>
              <a:t>Heading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Supporting point one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Supporting point two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Arial"/>
              </a:rPr>
              <a:t>Supporting point three</a:t>
            </a:r>
          </a:p>
        </p:txBody>
      </p:sp>
      <p:pic>
        <p:nvPicPr>
          <p:cNvPr id="5" name="Picture 4" descr="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8800"/>
            <a:ext cx="579089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D1D1F"/>
                </a:solidFill>
                <a:latin typeface="Arial"/>
              </a:rPr>
              <a:t>Summary point one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D1D1F"/>
                </a:solidFill>
                <a:latin typeface="Arial"/>
              </a:rPr>
              <a:t>Summary point two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D1D1F"/>
                </a:solidFill>
                <a:latin typeface="Arial"/>
              </a:rPr>
              <a:t>Summary point 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937760"/>
            <a:ext cx="10545775" cy="10058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800" b="1" i="0">
                <a:solidFill>
                  <a:srgbClr val="1D1D1F"/>
                </a:solidFill>
                <a:latin typeface="Arial"/>
              </a:rPr>
              <a:t>Key message goes 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82296" cy="10058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Arial"/>
              </a:rPr>
              <a:t>name@example.com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6CC"/>
      </a:accent1>
      <a:accent2>
        <a:srgbClr val="E8893B"/>
      </a:accent2>
      <a:accent3>
        <a:srgbClr val="34A853"/>
      </a:accent3>
      <a:accent4>
        <a:srgbClr val="C44D8A"/>
      </a:accent4>
      <a:accent5>
        <a:srgbClr val="5AC8DC"/>
      </a:accent5>
      <a:accent6>
        <a:srgbClr val="5E5CE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6CC"/>
      </a:accent1>
      <a:accent2>
        <a:srgbClr val="E8893B"/>
      </a:accent2>
      <a:accent3>
        <a:srgbClr val="34A853"/>
      </a:accent3>
      <a:accent4>
        <a:srgbClr val="C44D8A"/>
      </a:accent4>
      <a:accent5>
        <a:srgbClr val="5AC8DC"/>
      </a:accent5>
      <a:accent6>
        <a:srgbClr val="5E5CE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