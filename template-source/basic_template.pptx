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Plan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22</c:v>
                </c:pt>
                <c:pt idx="2">
                  <c:v>25</c:v>
                </c:pt>
                <c:pt idx="3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</c:v>
                </c:pt>
                <c:pt idx="1">
                  <c:v>24</c:v>
                </c:pt>
                <c:pt idx="2">
                  <c:v>23</c:v>
                </c:pt>
                <c:pt idx="3">
                  <c:v>33</c:v>
                </c:pt>
              </c:numCache>
            </c:numRef>
          </c:val>
        </c:ser>
        <c:gapWidth val="160"/>
        <c:overlap val="-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15</c:v>
                </c:pt>
                <c:pt idx="2">
                  <c:v>14</c:v>
                </c:pt>
                <c:pt idx="3">
                  <c:v>19</c:v>
                </c:pt>
                <c:pt idx="4">
                  <c:v>22</c:v>
                </c:pt>
                <c:pt idx="5">
                  <c:v>27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Enterprise</c:v>
                </c:pt>
                <c:pt idx="1">
                  <c:v>SMB</c:v>
                </c:pt>
                <c:pt idx="2">
                  <c:v>Consumer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28</c:v>
                </c:pt>
                <c:pt idx="2">
                  <c:v>22</c:v>
                </c:pt>
                <c:pt idx="3">
                  <c:v>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r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0-20</c:v>
                </c:pt>
                <c:pt idx="1">
                  <c:v>20-40</c:v>
                </c:pt>
                <c:pt idx="2">
                  <c:v>40-60</c:v>
                </c:pt>
                <c:pt idx="3">
                  <c:v>60-80</c:v>
                </c:pt>
                <c:pt idx="4">
                  <c:v>80-100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12</c:v>
                </c:pt>
                <c:pt idx="2">
                  <c:v>45</c:v>
                </c:pt>
                <c:pt idx="3">
                  <c:v>30</c:v>
                </c:pt>
                <c:pt idx="4">
                  <c:v>10</c:v>
                </c:pt>
              </c:numCache>
            </c:numRef>
          </c:val>
        </c:ser>
        <c:gapWidth val="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>24</c:v>
                </c:pt>
                <c:pt idx="2">
                  <c:v>23</c:v>
                </c:pt>
                <c:pt idx="3">
                  <c:v>33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Plan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22</c:v>
                </c:pt>
                <c:pt idx="2">
                  <c:v>25</c:v>
                </c:pt>
                <c:pt idx="3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</c:v>
                </c:pt>
                <c:pt idx="1">
                  <c:v>24</c:v>
                </c:pt>
                <c:pt idx="2">
                  <c:v>23</c:v>
                </c:pt>
                <c:pt idx="3">
                  <c:v>33</c:v>
                </c:pt>
              </c:numCache>
            </c:numRef>
          </c:val>
        </c:ser>
        <c:gapWidth val="160"/>
        <c:overlap val="-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46888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262A2E"/>
                </a:solidFill>
                <a:latin typeface="Arial"/>
              </a:rPr>
              <a:t>Presentation 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5760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6B7280"/>
                </a:solidFill>
                <a:latin typeface="Arial"/>
              </a:rPr>
              <a:t>Subtitle / author / 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Numbered 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>
              <a:spcAft>
                <a:spcPts val="1000"/>
              </a:spcAft>
              <a:buAutoNum type="arabicPeriod"/>
            </a:pPr>
            <a:r>
              <a:rPr sz="1800" b="0" i="0">
                <a:solidFill>
                  <a:srgbClr val="262A2E"/>
                </a:solidFill>
                <a:latin typeface="Arial"/>
              </a:rPr>
              <a:t>First key point goes here</a:t>
            </a:r>
          </a:p>
          <a:p>
            <a:pPr marL="88900" indent="-88900">
              <a:spcAft>
                <a:spcPts val="1000"/>
              </a:spcAft>
              <a:buAutoNum type="arabicPeriod"/>
            </a:pPr>
            <a:r>
              <a:rPr sz="1800" b="0" i="0">
                <a:solidFill>
                  <a:srgbClr val="262A2E"/>
                </a:solidFill>
                <a:latin typeface="Arial"/>
              </a:rPr>
              <a:t>Second supporting point</a:t>
            </a:r>
          </a:p>
          <a:p>
            <a:pPr marL="88900" indent="-88900">
              <a:spcAft>
                <a:spcPts val="1000"/>
              </a:spcAft>
              <a:buAutoNum type="arabicPeriod"/>
            </a:pPr>
            <a:r>
              <a:rPr sz="1800" b="0" i="0">
                <a:solidFill>
                  <a:srgbClr val="262A2E"/>
                </a:solidFill>
                <a:latin typeface="Arial"/>
              </a:rPr>
              <a:t>Third point with a bit more detail</a:t>
            </a:r>
          </a:p>
          <a:p>
            <a:pPr marL="88900" indent="-88900">
              <a:spcAft>
                <a:spcPts val="1000"/>
              </a:spcAft>
              <a:buAutoNum type="arabicPeriod"/>
            </a:pPr>
            <a:r>
              <a:rPr sz="1800" b="0" i="0">
                <a:solidFill>
                  <a:srgbClr val="262A2E"/>
                </a:solidFill>
                <a:latin typeface="Arial"/>
              </a:rPr>
              <a:t>Fourth point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Bulleted 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2400" indent="-152400"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262A2E"/>
                </a:solidFill>
                <a:latin typeface="Arial"/>
              </a:rPr>
              <a:t>First key point goes here</a:t>
            </a:r>
          </a:p>
          <a:p>
            <a:pPr marL="152400" indent="-152400"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262A2E"/>
                </a:solidFill>
                <a:latin typeface="Arial"/>
              </a:rPr>
              <a:t>Second supporting point</a:t>
            </a:r>
          </a:p>
          <a:p>
            <a:pPr marL="152400" indent="-152400"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262A2E"/>
                </a:solidFill>
                <a:latin typeface="Arial"/>
              </a:rPr>
              <a:t>Third point with a bit more detail</a:t>
            </a:r>
          </a:p>
          <a:p>
            <a:pPr marL="152400" indent="-152400"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262A2E"/>
                </a:solidFill>
                <a:latin typeface="Arial"/>
              </a:rPr>
              <a:t>Fourth point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262A2E"/>
                </a:solidFill>
                <a:latin typeface="Arial"/>
              </a:rPr>
              <a:t>Section Divider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Two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4998567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000" b="1" i="0">
                <a:solidFill>
                  <a:srgbClr val="3B6EA5"/>
                </a:solidFill>
                <a:latin typeface="Arial"/>
              </a:rPr>
              <a:t>Left heading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62A2E"/>
                </a:solidFill>
                <a:latin typeface="Arial"/>
              </a:rPr>
              <a:t>Left point one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62A2E"/>
                </a:solidFill>
                <a:latin typeface="Arial"/>
              </a:rPr>
              <a:t>Left point two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62A2E"/>
                </a:solidFill>
                <a:latin typeface="Arial"/>
              </a:rPr>
              <a:t>Left point three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737360"/>
            <a:ext cx="4998567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000" b="1" i="0">
                <a:solidFill>
                  <a:srgbClr val="3B6EA5"/>
                </a:solidFill>
                <a:latin typeface="Arial"/>
              </a:rPr>
              <a:t>Right heading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62A2E"/>
                </a:solidFill>
                <a:latin typeface="Arial"/>
              </a:rPr>
              <a:t>Right point one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62A2E"/>
                </a:solidFill>
                <a:latin typeface="Arial"/>
              </a:rPr>
              <a:t>Right point two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62A2E"/>
                </a:solidFill>
                <a:latin typeface="Arial"/>
              </a:rPr>
              <a:t>Right point three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Three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321045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3B6EA5"/>
                </a:solidFill>
                <a:latin typeface="Arial"/>
              </a:rPr>
              <a:t>Heading 1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90618" y="1737360"/>
            <a:ext cx="321045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3B6EA5"/>
                </a:solidFill>
                <a:latin typeface="Arial"/>
              </a:rPr>
              <a:t>Heading 2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8276" y="1737360"/>
            <a:ext cx="321045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3B6EA5"/>
                </a:solidFill>
                <a:latin typeface="Arial"/>
              </a:rPr>
              <a:t>Heading 3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Four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2293543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3B6EA5"/>
                </a:solidFill>
                <a:latin typeface="Arial"/>
              </a:rPr>
              <a:t>Heading 1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3703" y="1737360"/>
            <a:ext cx="2293543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3B6EA5"/>
                </a:solidFill>
                <a:latin typeface="Arial"/>
              </a:rPr>
              <a:t>Heading 2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737360"/>
            <a:ext cx="2293543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3B6EA5"/>
                </a:solidFill>
                <a:latin typeface="Arial"/>
              </a:rPr>
              <a:t>Heading 3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75191" y="1737360"/>
            <a:ext cx="2293543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3B6EA5"/>
                </a:solidFill>
                <a:latin typeface="Arial"/>
              </a:rPr>
              <a:t>Heading 4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Bar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One-line takeaway about what this chart shows.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2148840"/>
          <a:ext cx="10545775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Line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One-line takeaway about the trend over time.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2148840"/>
          <a:ext cx="10545775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Pie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One-line takeaway about the composition.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2148840"/>
          <a:ext cx="10545775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Histogram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One-line takeaway about the distribution.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2148840"/>
          <a:ext cx="10545775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Text +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00"/>
              </a:spcAft>
            </a:pPr>
            <a:r>
              <a:rPr sz="2000" b="1" i="0">
                <a:solidFill>
                  <a:srgbClr val="3B6EA5"/>
                </a:solidFill>
                <a:latin typeface="Arial"/>
              </a:rPr>
              <a:t>Key takeaway heading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Supporting point one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Supporting point two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Supporting point three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577840" y="1828800"/>
          <a:ext cx="5790895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Intro line describing what the table shows.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03120"/>
          <a:ext cx="10545775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Customers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Enterprise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SMB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Consumer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5,300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02920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Source / footnote line below the table.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Two Tables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Intro line describing the two tables.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03120"/>
          <a:ext cx="5044287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1429"/>
                <a:gridCol w="1681429"/>
                <a:gridCol w="1681429"/>
              </a:tblGrid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Customers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Enterprise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SMB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Consumer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5,300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24447" y="2103120"/>
          <a:ext cx="5044287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1429"/>
                <a:gridCol w="1681429"/>
                <a:gridCol w="1681429"/>
              </a:tblGrid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Customers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Enterprise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SMB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Consumer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5,300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02920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Source / footnote line below the tables.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Table +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Intro line describing the table and its chart.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03120"/>
          <a:ext cx="49377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Quarter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Plan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Actual</a:t>
                      </a:r>
                    </a:p>
                  </a:txBody>
                  <a:tcPr anchor="ctr"/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Q1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/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Q2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anchor="ctr"/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anchor="ctr"/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Q4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309360" y="2103120"/>
          <a:ext cx="5059375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21208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Source / footnote line below the table and chart.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Card Grid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Intro line above the cards.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3271418" cy="2468880"/>
          </a:xfrm>
          <a:prstGeom prst="roundRect">
            <a:avLst/>
          </a:prstGeom>
          <a:solidFill>
            <a:srgbClr val="F4F5F7"/>
          </a:solidFill>
          <a:ln w="9525">
            <a:solidFill>
              <a:srgbClr val="D7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 i="0">
                <a:solidFill>
                  <a:srgbClr val="3B6EA5"/>
                </a:solidFill>
                <a:latin typeface="Arial"/>
              </a:rPr>
              <a:t>12%</a:t>
            </a:r>
          </a:p>
          <a:p>
            <a:pPr algn="ctr"/>
            <a:r>
              <a:rPr sz="1500" b="0" i="0">
                <a:solidFill>
                  <a:srgbClr val="6B7280"/>
                </a:solidFill>
                <a:latin typeface="Arial"/>
              </a:rPr>
              <a:t>Metric 1 label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60138" y="2148840"/>
            <a:ext cx="3271418" cy="2468880"/>
          </a:xfrm>
          <a:prstGeom prst="roundRect">
            <a:avLst/>
          </a:prstGeom>
          <a:solidFill>
            <a:srgbClr val="F4F5F7"/>
          </a:solidFill>
          <a:ln w="9525">
            <a:solidFill>
              <a:srgbClr val="D7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 i="0">
                <a:solidFill>
                  <a:srgbClr val="3B6EA5"/>
                </a:solidFill>
                <a:latin typeface="Arial"/>
              </a:rPr>
              <a:t>24%</a:t>
            </a:r>
          </a:p>
          <a:p>
            <a:pPr algn="ctr"/>
            <a:r>
              <a:rPr sz="1500" b="0" i="0">
                <a:solidFill>
                  <a:srgbClr val="6B7280"/>
                </a:solidFill>
                <a:latin typeface="Arial"/>
              </a:rPr>
              <a:t>Metric 2 label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2148840"/>
            <a:ext cx="3271418" cy="2468880"/>
          </a:xfrm>
          <a:prstGeom prst="roundRect">
            <a:avLst/>
          </a:prstGeom>
          <a:solidFill>
            <a:srgbClr val="F4F5F7"/>
          </a:solidFill>
          <a:ln w="9525">
            <a:solidFill>
              <a:srgbClr val="D7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 i="0">
                <a:solidFill>
                  <a:srgbClr val="3B6EA5"/>
                </a:solidFill>
                <a:latin typeface="Arial"/>
              </a:rPr>
              <a:t>36%</a:t>
            </a:r>
          </a:p>
          <a:p>
            <a:pPr algn="ctr"/>
            <a:r>
              <a:rPr sz="1500" b="0" i="0">
                <a:solidFill>
                  <a:srgbClr val="6B7280"/>
                </a:solidFill>
                <a:latin typeface="Arial"/>
              </a:rPr>
              <a:t>Metric 3 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92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Note / source line below the cards.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Image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28800"/>
            <a:ext cx="10545775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Text + Image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000" b="1" i="0">
                <a:solidFill>
                  <a:srgbClr val="3B6EA5"/>
                </a:solidFill>
                <a:latin typeface="Arial"/>
              </a:rPr>
              <a:t>Heading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Supporting point one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Supporting point two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Supporting point three</a:t>
            </a:r>
          </a:p>
        </p:txBody>
      </p:sp>
      <p:pic>
        <p:nvPicPr>
          <p:cNvPr id="5" name="Picture 4" descr="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828800"/>
            <a:ext cx="5790895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62A2E"/>
                </a:solidFill>
                <a:latin typeface="Arial"/>
              </a:rPr>
              <a:t>Summary point one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62A2E"/>
                </a:solidFill>
                <a:latin typeface="Arial"/>
              </a:rPr>
              <a:t>Summary point two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62A2E"/>
                </a:solidFill>
                <a:latin typeface="Arial"/>
              </a:rPr>
              <a:t>Summary point three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937760"/>
            <a:ext cx="10545775" cy="1005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800" b="1" i="0">
                <a:solidFill>
                  <a:srgbClr val="262A2E"/>
                </a:solidFill>
                <a:latin typeface="Arial"/>
              </a:rPr>
              <a:t>Key message goes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937760"/>
            <a:ext cx="82296" cy="100584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i="0">
                <a:solidFill>
                  <a:srgbClr val="262A2E"/>
                </a:solidFill>
                <a:latin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4048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6B7280"/>
                </a:solidFill>
                <a:latin typeface="Arial"/>
              </a:rPr>
              <a:t>name@example.com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